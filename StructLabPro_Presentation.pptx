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1097280"/>
            <a:ext cx="54864" cy="54864"/>
          </a:xfrm>
          <a:prstGeom prst="ellipse">
            <a:avLst/>
          </a:prstGeom>
          <a:solidFill>
            <a:srgbClr val="2A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" y="2560320"/>
            <a:ext cx="54864" cy="54864"/>
          </a:xfrm>
          <a:prstGeom prst="ellipse">
            <a:avLst/>
          </a:prstGeom>
          <a:solidFill>
            <a:srgbClr val="2A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57200" y="4023360"/>
            <a:ext cx="54864" cy="54864"/>
          </a:xfrm>
          <a:prstGeom prst="ellipse">
            <a:avLst/>
          </a:prstGeom>
          <a:solidFill>
            <a:srgbClr val="2A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5486400"/>
            <a:ext cx="54864" cy="54864"/>
          </a:xfrm>
          <a:prstGeom prst="ellipse">
            <a:avLst/>
          </a:prstGeom>
          <a:solidFill>
            <a:srgbClr val="2A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377440" y="1097280"/>
            <a:ext cx="54864" cy="54864"/>
          </a:xfrm>
          <a:prstGeom prst="ellipse">
            <a:avLst/>
          </a:prstGeom>
          <a:solidFill>
            <a:srgbClr val="2A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377440" y="2560320"/>
            <a:ext cx="54864" cy="54864"/>
          </a:xfrm>
          <a:prstGeom prst="ellipse">
            <a:avLst/>
          </a:prstGeom>
          <a:solidFill>
            <a:srgbClr val="2A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377440" y="4023360"/>
            <a:ext cx="54864" cy="54864"/>
          </a:xfrm>
          <a:prstGeom prst="ellipse">
            <a:avLst/>
          </a:prstGeom>
          <a:solidFill>
            <a:srgbClr val="2A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377440" y="5486400"/>
            <a:ext cx="54864" cy="54864"/>
          </a:xfrm>
          <a:prstGeom prst="ellipse">
            <a:avLst/>
          </a:prstGeom>
          <a:solidFill>
            <a:srgbClr val="2A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297680" y="1097280"/>
            <a:ext cx="54864" cy="54864"/>
          </a:xfrm>
          <a:prstGeom prst="ellipse">
            <a:avLst/>
          </a:prstGeom>
          <a:solidFill>
            <a:srgbClr val="2A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297680" y="2560320"/>
            <a:ext cx="54864" cy="54864"/>
          </a:xfrm>
          <a:prstGeom prst="ellipse">
            <a:avLst/>
          </a:prstGeom>
          <a:solidFill>
            <a:srgbClr val="2A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297680" y="4023360"/>
            <a:ext cx="54864" cy="54864"/>
          </a:xfrm>
          <a:prstGeom prst="ellipse">
            <a:avLst/>
          </a:prstGeom>
          <a:solidFill>
            <a:srgbClr val="2A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297680" y="5486400"/>
            <a:ext cx="54864" cy="54864"/>
          </a:xfrm>
          <a:prstGeom prst="ellipse">
            <a:avLst/>
          </a:prstGeom>
          <a:solidFill>
            <a:srgbClr val="2A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217920" y="1097280"/>
            <a:ext cx="54864" cy="54864"/>
          </a:xfrm>
          <a:prstGeom prst="ellipse">
            <a:avLst/>
          </a:prstGeom>
          <a:solidFill>
            <a:srgbClr val="2A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217920" y="2560320"/>
            <a:ext cx="54864" cy="54864"/>
          </a:xfrm>
          <a:prstGeom prst="ellipse">
            <a:avLst/>
          </a:prstGeom>
          <a:solidFill>
            <a:srgbClr val="2A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217920" y="4023360"/>
            <a:ext cx="54864" cy="54864"/>
          </a:xfrm>
          <a:prstGeom prst="ellipse">
            <a:avLst/>
          </a:prstGeom>
          <a:solidFill>
            <a:srgbClr val="2A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217920" y="5486400"/>
            <a:ext cx="54864" cy="54864"/>
          </a:xfrm>
          <a:prstGeom prst="ellipse">
            <a:avLst/>
          </a:prstGeom>
          <a:solidFill>
            <a:srgbClr val="2A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138160" y="1097280"/>
            <a:ext cx="54864" cy="54864"/>
          </a:xfrm>
          <a:prstGeom prst="ellipse">
            <a:avLst/>
          </a:prstGeom>
          <a:solidFill>
            <a:srgbClr val="2A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138160" y="2560320"/>
            <a:ext cx="54864" cy="54864"/>
          </a:xfrm>
          <a:prstGeom prst="ellipse">
            <a:avLst/>
          </a:prstGeom>
          <a:solidFill>
            <a:srgbClr val="2A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138160" y="4023360"/>
            <a:ext cx="54864" cy="54864"/>
          </a:xfrm>
          <a:prstGeom prst="ellipse">
            <a:avLst/>
          </a:prstGeom>
          <a:solidFill>
            <a:srgbClr val="2A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138160" y="5486400"/>
            <a:ext cx="54864" cy="54864"/>
          </a:xfrm>
          <a:prstGeom prst="ellipse">
            <a:avLst/>
          </a:prstGeom>
          <a:solidFill>
            <a:srgbClr val="2A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058400" y="1097280"/>
            <a:ext cx="54864" cy="54864"/>
          </a:xfrm>
          <a:prstGeom prst="ellipse">
            <a:avLst/>
          </a:prstGeom>
          <a:solidFill>
            <a:srgbClr val="2A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058400" y="2560320"/>
            <a:ext cx="54864" cy="54864"/>
          </a:xfrm>
          <a:prstGeom prst="ellipse">
            <a:avLst/>
          </a:prstGeom>
          <a:solidFill>
            <a:srgbClr val="2A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058400" y="4023360"/>
            <a:ext cx="54864" cy="54864"/>
          </a:xfrm>
          <a:prstGeom prst="ellipse">
            <a:avLst/>
          </a:prstGeom>
          <a:solidFill>
            <a:srgbClr val="2A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058400" y="5486400"/>
            <a:ext cx="54864" cy="54864"/>
          </a:xfrm>
          <a:prstGeom prst="ellipse">
            <a:avLst/>
          </a:prstGeom>
          <a:solidFill>
            <a:srgbClr val="2A2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14630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00ACC1"/>
                </a:solidFill>
              </a:rPr>
              <a:t>StructLabPro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2514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EEEEEE"/>
                </a:solidFill>
              </a:rPr>
              <a:t>An Open-Source Desktop Structural Analysis Tool in Python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3108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999AA"/>
                </a:solidFill>
              </a:rPr>
              <a:t>Direct Stiffness Method  ·  2D &amp; 3D  ·  PyQt6 GUI  ·  Python SDK  ·  GPL v3 Licence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0" y="3611880"/>
            <a:ext cx="5788152" cy="19050"/>
          </a:xfrm>
          <a:prstGeom prst="rect">
            <a:avLst/>
          </a:prstGeom>
          <a:solidFill>
            <a:srgbClr val="00A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37947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999AA"/>
                </a:solidFill>
              </a:rPr>
              <a:t>Open Source Tools for Engineering — 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4160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EEEEEE"/>
                </a:solidFill>
              </a:rPr>
              <a:t>Imed Mhamdi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0" y="4846320"/>
            <a:ext cx="2130552" cy="411480"/>
          </a:xfrm>
          <a:prstGeom prst="rect">
            <a:avLst/>
          </a:prstGeom>
          <a:solidFill>
            <a:srgbClr val="222235"/>
          </a:solidFill>
          <a:ln w="19050">
            <a:solidFill>
              <a:srgbClr val="00AC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0" y="4855464"/>
            <a:ext cx="213055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ACC1"/>
                </a:solidFill>
              </a:rPr>
              <a:t>V 1.0.0  —  First Public Release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999AA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ACC1"/>
                </a:solidFill>
              </a:rP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41248"/>
            <a:ext cx="11274552" cy="25400"/>
          </a:xfrm>
          <a:prstGeom prst="rect">
            <a:avLst/>
          </a:prstGeom>
          <a:solidFill>
            <a:srgbClr val="00A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875520" y="109728"/>
            <a:ext cx="2103120" cy="292608"/>
          </a:xfrm>
          <a:prstGeom prst="rect">
            <a:avLst/>
          </a:prstGeom>
          <a:solidFill>
            <a:srgbClr val="00A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21240" y="11887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A2A"/>
                </a:solidFill>
              </a:rPr>
              <a:t>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999AA"/>
                </a:solidFill>
              </a:rPr>
              <a:t>2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05840"/>
            <a:ext cx="502920" cy="502920"/>
          </a:xfrm>
          <a:prstGeom prst="rect">
            <a:avLst/>
          </a:prstGeom>
          <a:solidFill>
            <a:srgbClr val="00A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2412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A2A"/>
                </a:solidFill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0058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EEEEE"/>
                </a:solidFill>
              </a:rPr>
              <a:t>The Open-Source Structural Analysis Landscape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28016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999AA"/>
                </a:solidFill>
              </a:rPr>
              <a:t>What tools exist, their strengths and gaps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783080"/>
            <a:ext cx="502920" cy="502920"/>
          </a:xfrm>
          <a:prstGeom prst="rect">
            <a:avLst/>
          </a:prstGeom>
          <a:solidFill>
            <a:srgbClr val="00A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80136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A2A"/>
                </a:solidFill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17830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EEEEE"/>
                </a:solidFill>
              </a:rPr>
              <a:t>What is StructLabPro?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05740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999AA"/>
                </a:solidFill>
              </a:rPr>
              <a:t>Architecture, scope, and design decisions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560320"/>
            <a:ext cx="502920" cy="502920"/>
          </a:xfrm>
          <a:prstGeom prst="rect">
            <a:avLst/>
          </a:prstGeom>
          <a:solidFill>
            <a:srgbClr val="00A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57860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A2A"/>
                </a:solidFill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25603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EEEEE"/>
                </a:solidFill>
              </a:rPr>
              <a:t>Features Walkthrough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283464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999AA"/>
                </a:solidFill>
              </a:rPr>
              <a:t>Modelling, results, Python SDK — with live demo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337560"/>
            <a:ext cx="502920" cy="502920"/>
          </a:xfrm>
          <a:prstGeom prst="rect">
            <a:avLst/>
          </a:prstGeom>
          <a:solidFill>
            <a:srgbClr val="00A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35584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A2A"/>
                </a:solidFill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33375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EEEEE"/>
                </a:solidFill>
              </a:rPr>
              <a:t>Validation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361188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999AA"/>
                </a:solidFill>
              </a:rPr>
              <a:t>20 benchmark cases vs OpenSeesPy &amp; analytical solutions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114800"/>
            <a:ext cx="502920" cy="502920"/>
          </a:xfrm>
          <a:prstGeom prst="rect">
            <a:avLst/>
          </a:prstGeom>
          <a:solidFill>
            <a:srgbClr val="00A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13308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A2A"/>
                </a:solidFill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41148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EEEEE"/>
                </a:solidFill>
              </a:rPr>
              <a:t>V1.0 Scope Boundaries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438912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999AA"/>
                </a:solidFill>
              </a:rPr>
              <a:t>What this release does not do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892040"/>
            <a:ext cx="502920" cy="502920"/>
          </a:xfrm>
          <a:prstGeom prst="rect">
            <a:avLst/>
          </a:prstGeom>
          <a:solidFill>
            <a:srgbClr val="00A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491032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A2A"/>
                </a:solidFill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48920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EEEEE"/>
                </a:solidFill>
              </a:rPr>
              <a:t>Roadmap &amp; Contributing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516636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999AA"/>
                </a:solidFill>
              </a:rPr>
              <a:t>Where the project goes next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ACC1"/>
                </a:solidFill>
              </a:rPr>
              <a:t>Open-Source Structural Analysis 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999AA"/>
                </a:solidFill>
              </a:rPr>
              <a:t>A survey of what exists before StructLabPro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41248"/>
            <a:ext cx="11274552" cy="25400"/>
          </a:xfrm>
          <a:prstGeom prst="rect">
            <a:avLst/>
          </a:prstGeom>
          <a:solidFill>
            <a:srgbClr val="00A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875520" y="109728"/>
            <a:ext cx="2103120" cy="292608"/>
          </a:xfrm>
          <a:prstGeom prst="rect">
            <a:avLst/>
          </a:prstGeom>
          <a:solidFill>
            <a:srgbClr val="00A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21240" y="11887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A2A"/>
                </a:solidFill>
              </a:rPr>
              <a:t>Landscape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999AA"/>
                </a:solidFill>
              </a:rPr>
              <a:t>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960120"/>
            <a:ext cx="1655064" cy="310896"/>
          </a:xfrm>
          <a:prstGeom prst="rect">
            <a:avLst/>
          </a:prstGeom>
          <a:solidFill>
            <a:srgbClr val="00A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0896" y="996696"/>
            <a:ext cx="1600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A"/>
                </a:solidFill>
              </a:rPr>
              <a:t>Tool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65960" y="960120"/>
            <a:ext cx="1380744" cy="310896"/>
          </a:xfrm>
          <a:prstGeom prst="rect">
            <a:avLst/>
          </a:prstGeom>
          <a:solidFill>
            <a:srgbClr val="00A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02536" y="996696"/>
            <a:ext cx="1325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A"/>
                </a:solidFill>
              </a:rPr>
              <a:t>Domain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83280" y="960120"/>
            <a:ext cx="1289304" cy="310896"/>
          </a:xfrm>
          <a:prstGeom prst="rect">
            <a:avLst/>
          </a:prstGeom>
          <a:solidFill>
            <a:srgbClr val="00A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19856" y="996696"/>
            <a:ext cx="12344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A"/>
                </a:solidFill>
              </a:rPr>
              <a:t>Interface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09160" y="960120"/>
            <a:ext cx="3026664" cy="310896"/>
          </a:xfrm>
          <a:prstGeom prst="rect">
            <a:avLst/>
          </a:prstGeom>
          <a:solidFill>
            <a:srgbClr val="00A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45736" y="996696"/>
            <a:ext cx="2971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A"/>
                </a:solidFill>
              </a:rPr>
              <a:t>Key Strength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0" y="960120"/>
            <a:ext cx="2706624" cy="310896"/>
          </a:xfrm>
          <a:prstGeom prst="rect">
            <a:avLst/>
          </a:prstGeom>
          <a:solidFill>
            <a:srgbClr val="00A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08976" y="996696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A"/>
                </a:solidFill>
              </a:rPr>
              <a:t>Key Limitation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1271016"/>
            <a:ext cx="1655064" cy="310896"/>
          </a:xfrm>
          <a:prstGeom prst="rect">
            <a:avLst/>
          </a:prstGeom>
          <a:solidFill>
            <a:srgbClr val="222235"/>
          </a:solidFill>
          <a:ln w="635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1298448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ACC1"/>
                </a:solidFill>
              </a:rPr>
              <a:t>OpenSees / OpenSeesPy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965960" y="1271016"/>
            <a:ext cx="1380744" cy="310896"/>
          </a:xfrm>
          <a:prstGeom prst="rect">
            <a:avLst/>
          </a:prstGeom>
          <a:solidFill>
            <a:srgbClr val="222235"/>
          </a:solidFill>
          <a:ln w="635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011680" y="1298448"/>
            <a:ext cx="1325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EEEEE"/>
                </a:solidFill>
              </a:rPr>
              <a:t>Frame + Continuum FEM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83280" y="1271016"/>
            <a:ext cx="1289304" cy="310896"/>
          </a:xfrm>
          <a:prstGeom prst="rect">
            <a:avLst/>
          </a:prstGeom>
          <a:solidFill>
            <a:srgbClr val="222235"/>
          </a:solidFill>
          <a:ln w="635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29000" y="1298448"/>
            <a:ext cx="1234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EEEEE"/>
                </a:solidFill>
              </a:rPr>
              <a:t>Python / Tcl scripting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09160" y="1271016"/>
            <a:ext cx="3026664" cy="310896"/>
          </a:xfrm>
          <a:prstGeom prst="rect">
            <a:avLst/>
          </a:prstGeom>
          <a:solidFill>
            <a:srgbClr val="222235"/>
          </a:solidFill>
          <a:ln w="635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54880" y="1298448"/>
            <a:ext cx="2971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EEEEE"/>
                </a:solidFill>
              </a:rPr>
              <a:t>Nonlinear, dynamic, seismic — research-grade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0" y="1271016"/>
            <a:ext cx="2706624" cy="310896"/>
          </a:xfrm>
          <a:prstGeom prst="rect">
            <a:avLst/>
          </a:prstGeom>
          <a:solidFill>
            <a:srgbClr val="222235"/>
          </a:solidFill>
          <a:ln w="635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18120" y="1298448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EEEEE"/>
                </a:solidFill>
              </a:rPr>
              <a:t>No GUI, steep learning curve, no interactive modelling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1581912"/>
            <a:ext cx="1655064" cy="310896"/>
          </a:xfrm>
          <a:prstGeom prst="rect">
            <a:avLst/>
          </a:prstGeom>
          <a:solidFill>
            <a:srgbClr val="1A1A2A"/>
          </a:solidFill>
          <a:ln w="635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0040" y="1609344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ACC1"/>
                </a:solidFill>
              </a:rPr>
              <a:t>Frame3DD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965960" y="1581912"/>
            <a:ext cx="1380744" cy="310896"/>
          </a:xfrm>
          <a:prstGeom prst="rect">
            <a:avLst/>
          </a:prstGeom>
          <a:solidFill>
            <a:srgbClr val="1A1A2A"/>
          </a:solidFill>
          <a:ln w="635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011680" y="1609344"/>
            <a:ext cx="1325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EEEEE"/>
                </a:solidFill>
              </a:rPr>
              <a:t>3D frames &amp; trusses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83280" y="1581912"/>
            <a:ext cx="1289304" cy="310896"/>
          </a:xfrm>
          <a:prstGeom prst="rect">
            <a:avLst/>
          </a:prstGeom>
          <a:solidFill>
            <a:srgbClr val="1A1A2A"/>
          </a:solidFill>
          <a:ln w="635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29000" y="1609344"/>
            <a:ext cx="1234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EEEEE"/>
                </a:solidFill>
              </a:rPr>
              <a:t>CLI + text file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709160" y="1581912"/>
            <a:ext cx="3026664" cy="310896"/>
          </a:xfrm>
          <a:prstGeom prst="rect">
            <a:avLst/>
          </a:prstGeom>
          <a:solidFill>
            <a:srgbClr val="1A1A2A"/>
          </a:solidFill>
          <a:ln w="635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54880" y="1609344"/>
            <a:ext cx="2971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EEEEE"/>
                </a:solidFill>
              </a:rPr>
              <a:t>Lightweight, fast, well-validated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72400" y="1581912"/>
            <a:ext cx="2706624" cy="310896"/>
          </a:xfrm>
          <a:prstGeom prst="rect">
            <a:avLst/>
          </a:prstGeom>
          <a:solidFill>
            <a:srgbClr val="1A1A2A"/>
          </a:solidFill>
          <a:ln w="635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18120" y="1609344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EEEEE"/>
                </a:solidFill>
              </a:rPr>
              <a:t>No GUI, dated UX, limited load types, no Python API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1892808"/>
            <a:ext cx="1655064" cy="310896"/>
          </a:xfrm>
          <a:prstGeom prst="rect">
            <a:avLst/>
          </a:prstGeom>
          <a:solidFill>
            <a:srgbClr val="222235"/>
          </a:solidFill>
          <a:ln w="635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0040" y="1920240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ACC1"/>
                </a:solidFill>
              </a:rPr>
              <a:t>PyNite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965960" y="1892808"/>
            <a:ext cx="1380744" cy="310896"/>
          </a:xfrm>
          <a:prstGeom prst="rect">
            <a:avLst/>
          </a:prstGeom>
          <a:solidFill>
            <a:srgbClr val="222235"/>
          </a:solidFill>
          <a:ln w="635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011680" y="1920240"/>
            <a:ext cx="1325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EEEEE"/>
                </a:solidFill>
              </a:rPr>
              <a:t>3D frame / truss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383280" y="1892808"/>
            <a:ext cx="1289304" cy="310896"/>
          </a:xfrm>
          <a:prstGeom prst="rect">
            <a:avLst/>
          </a:prstGeom>
          <a:solidFill>
            <a:srgbClr val="222235"/>
          </a:solidFill>
          <a:ln w="635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429000" y="1920240"/>
            <a:ext cx="1234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EEEEE"/>
                </a:solidFill>
              </a:rPr>
              <a:t>Python library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709160" y="1892808"/>
            <a:ext cx="3026664" cy="310896"/>
          </a:xfrm>
          <a:prstGeom prst="rect">
            <a:avLst/>
          </a:prstGeom>
          <a:solidFill>
            <a:srgbClr val="222235"/>
          </a:solidFill>
          <a:ln w="635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54880" y="1920240"/>
            <a:ext cx="2971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EEEEE"/>
                </a:solidFill>
              </a:rPr>
              <a:t>Clean modern Python API, MIT licence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772400" y="1892808"/>
            <a:ext cx="2706624" cy="310896"/>
          </a:xfrm>
          <a:prstGeom prst="rect">
            <a:avLst/>
          </a:prstGeom>
          <a:solidFill>
            <a:srgbClr val="222235"/>
          </a:solidFill>
          <a:ln w="635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18120" y="1920240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EEEEE"/>
                </a:solidFill>
              </a:rPr>
              <a:t>Library only — no GUI, no visual workflow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4320" y="2203704"/>
            <a:ext cx="1655064" cy="310896"/>
          </a:xfrm>
          <a:prstGeom prst="rect">
            <a:avLst/>
          </a:prstGeom>
          <a:solidFill>
            <a:srgbClr val="1A1A2A"/>
          </a:solidFill>
          <a:ln w="635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20040" y="2231136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ACC1"/>
                </a:solidFill>
              </a:rPr>
              <a:t>anastruct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65960" y="2203704"/>
            <a:ext cx="1380744" cy="310896"/>
          </a:xfrm>
          <a:prstGeom prst="rect">
            <a:avLst/>
          </a:prstGeom>
          <a:solidFill>
            <a:srgbClr val="1A1A2A"/>
          </a:solidFill>
          <a:ln w="635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011680" y="2231136"/>
            <a:ext cx="1325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EEEEE"/>
                </a:solidFill>
              </a:rPr>
              <a:t>2D frames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383280" y="2203704"/>
            <a:ext cx="1289304" cy="310896"/>
          </a:xfrm>
          <a:prstGeom prst="rect">
            <a:avLst/>
          </a:prstGeom>
          <a:solidFill>
            <a:srgbClr val="1A1A2A"/>
          </a:solidFill>
          <a:ln w="635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429000" y="2231136"/>
            <a:ext cx="1234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EEEEE"/>
                </a:solidFill>
              </a:rPr>
              <a:t>Python library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709160" y="2203704"/>
            <a:ext cx="3026664" cy="310896"/>
          </a:xfrm>
          <a:prstGeom prst="rect">
            <a:avLst/>
          </a:prstGeom>
          <a:solidFill>
            <a:srgbClr val="1A1A2A"/>
          </a:solidFill>
          <a:ln w="635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754880" y="2231136"/>
            <a:ext cx="2971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EEEEE"/>
                </a:solidFill>
              </a:rPr>
              <a:t>Simple Pythonic API, quick to learn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772400" y="2203704"/>
            <a:ext cx="2706624" cy="310896"/>
          </a:xfrm>
          <a:prstGeom prst="rect">
            <a:avLst/>
          </a:prstGeom>
          <a:solidFill>
            <a:srgbClr val="1A1A2A"/>
          </a:solidFill>
          <a:ln w="635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818120" y="2231136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EEEEE"/>
                </a:solidFill>
              </a:rPr>
              <a:t>2D only, limited loads, no GUI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74320" y="2514600"/>
            <a:ext cx="1655064" cy="310896"/>
          </a:xfrm>
          <a:prstGeom prst="rect">
            <a:avLst/>
          </a:prstGeom>
          <a:solidFill>
            <a:srgbClr val="222235"/>
          </a:solidFill>
          <a:ln w="635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20040" y="2542032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ACC1"/>
                </a:solidFill>
              </a:rPr>
              <a:t>FEniCS / FEniCSx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965960" y="2514600"/>
            <a:ext cx="1380744" cy="310896"/>
          </a:xfrm>
          <a:prstGeom prst="rect">
            <a:avLst/>
          </a:prstGeom>
          <a:solidFill>
            <a:srgbClr val="222235"/>
          </a:solidFill>
          <a:ln w="635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011680" y="2542032"/>
            <a:ext cx="1325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EEEEE"/>
                </a:solidFill>
              </a:rPr>
              <a:t>Continuum FEM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383280" y="2514600"/>
            <a:ext cx="1289304" cy="310896"/>
          </a:xfrm>
          <a:prstGeom prst="rect">
            <a:avLst/>
          </a:prstGeom>
          <a:solidFill>
            <a:srgbClr val="222235"/>
          </a:solidFill>
          <a:ln w="635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429000" y="2542032"/>
            <a:ext cx="1234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EEEEE"/>
                </a:solidFill>
              </a:rPr>
              <a:t>Python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709160" y="2514600"/>
            <a:ext cx="3026664" cy="310896"/>
          </a:xfrm>
          <a:prstGeom prst="rect">
            <a:avLst/>
          </a:prstGeom>
          <a:solidFill>
            <a:srgbClr val="222235"/>
          </a:solidFill>
          <a:ln w="635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754880" y="2542032"/>
            <a:ext cx="2971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EEEEE"/>
                </a:solidFill>
              </a:rPr>
              <a:t>Very powerful for PDEs and continuum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772400" y="2514600"/>
            <a:ext cx="2706624" cy="310896"/>
          </a:xfrm>
          <a:prstGeom prst="rect">
            <a:avLst/>
          </a:prstGeom>
          <a:solidFill>
            <a:srgbClr val="222235"/>
          </a:solidFill>
          <a:ln w="635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818120" y="2542032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EEEEE"/>
                </a:solidFill>
              </a:rPr>
              <a:t>Not designed for frame/beam structures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74320" y="2825496"/>
            <a:ext cx="1655064" cy="310896"/>
          </a:xfrm>
          <a:prstGeom prst="rect">
            <a:avLst/>
          </a:prstGeom>
          <a:solidFill>
            <a:srgbClr val="1A1A2A"/>
          </a:solidFill>
          <a:ln w="635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20040" y="2852928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ACC1"/>
                </a:solidFill>
              </a:rPr>
              <a:t>CalculiX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965960" y="2825496"/>
            <a:ext cx="1380744" cy="310896"/>
          </a:xfrm>
          <a:prstGeom prst="rect">
            <a:avLst/>
          </a:prstGeom>
          <a:solidFill>
            <a:srgbClr val="1A1A2A"/>
          </a:solidFill>
          <a:ln w="635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011680" y="2852928"/>
            <a:ext cx="1325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EEEEE"/>
                </a:solidFill>
              </a:rPr>
              <a:t>General FEM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383280" y="2825496"/>
            <a:ext cx="1289304" cy="310896"/>
          </a:xfrm>
          <a:prstGeom prst="rect">
            <a:avLst/>
          </a:prstGeom>
          <a:solidFill>
            <a:srgbClr val="1A1A2A"/>
          </a:solidFill>
          <a:ln w="635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429000" y="2852928"/>
            <a:ext cx="1234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EEEEE"/>
                </a:solidFill>
              </a:rPr>
              <a:t>CLI / PrePoMax GUI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709160" y="2825496"/>
            <a:ext cx="3026664" cy="310896"/>
          </a:xfrm>
          <a:prstGeom prst="rect">
            <a:avLst/>
          </a:prstGeom>
          <a:solidFill>
            <a:srgbClr val="1A1A2A"/>
          </a:solidFill>
          <a:ln w="635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754880" y="2852928"/>
            <a:ext cx="2971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EEEEE"/>
                </a:solidFill>
              </a:rPr>
              <a:t>Industrial-grade, Abaqus-compatible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772400" y="2825496"/>
            <a:ext cx="2706624" cy="310896"/>
          </a:xfrm>
          <a:prstGeom prst="rect">
            <a:avLst/>
          </a:prstGeom>
          <a:solidFill>
            <a:srgbClr val="1A1A2A"/>
          </a:solidFill>
          <a:ln w="635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818120" y="2852928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EEEEE"/>
                </a:solidFill>
              </a:rPr>
              <a:t>No Python SDK, complex input, steep learning curve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74320" y="649224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999AA"/>
                </a:solidFill>
              </a:rPr>
              <a:t>* Table covers widely-used FOSS tools as of 2026; excludes commercial tools (SAP2000, ETABS, RFEM, Abaqus).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ACC1"/>
                </a:solidFill>
              </a:rPr>
              <a:t>The Gap StructLabPro Addresses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999AA"/>
                </a:solidFill>
              </a:rPr>
              <a:t>Most tools are either GUI-only or scripting-only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41248"/>
            <a:ext cx="11274552" cy="25400"/>
          </a:xfrm>
          <a:prstGeom prst="rect">
            <a:avLst/>
          </a:prstGeom>
          <a:solidFill>
            <a:srgbClr val="00A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875520" y="109728"/>
            <a:ext cx="2103120" cy="292608"/>
          </a:xfrm>
          <a:prstGeom prst="rect">
            <a:avLst/>
          </a:prstGeom>
          <a:solidFill>
            <a:srgbClr val="00A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21240" y="11887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A2A"/>
                </a:solidFill>
              </a:rPr>
              <a:t>Landscape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999AA"/>
                </a:solidFill>
              </a:rPr>
              <a:t>4</a:t>
            </a:r>
          </a:p>
        </p:txBody>
      </p:sp>
      <p:sp>
        <p:nvSpPr>
          <p:cNvPr id="8" name="Rectangle 7"/>
          <p:cNvSpPr/>
          <p:nvPr/>
        </p:nvSpPr>
        <p:spPr>
          <a:xfrm>
            <a:off x="1975104" y="1463040"/>
            <a:ext cx="8229600" cy="19050"/>
          </a:xfrm>
          <a:prstGeom prst="rect">
            <a:avLst/>
          </a:prstGeom>
          <a:solidFill>
            <a:srgbClr val="999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80379" y="1463040"/>
            <a:ext cx="19050" cy="4754880"/>
          </a:xfrm>
          <a:prstGeom prst="rect">
            <a:avLst/>
          </a:prstGeom>
          <a:solidFill>
            <a:srgbClr val="999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75104" y="1143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999AA"/>
                </a:solidFill>
              </a:rPr>
              <a:t>Scripting / programmable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75104" y="62179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9999AA"/>
                </a:solidFill>
              </a:rPr>
              <a:t>GUI / interactive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3024" y="36576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99AA"/>
                </a:solidFill>
              </a:rPr>
              <a:t>Simple / educational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75104" y="36576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999AA"/>
                </a:solidFill>
              </a:rPr>
              <a:t>Powerful / research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19856" y="2267712"/>
            <a:ext cx="219456" cy="219456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23744" y="25146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7C00"/>
                </a:solidFill>
              </a:rPr>
              <a:t>OpenSees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08576" y="3182112"/>
            <a:ext cx="219456" cy="219456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12464" y="34290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7C00"/>
                </a:solidFill>
              </a:rPr>
              <a:t>PyNite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522976" y="3273552"/>
            <a:ext cx="219456" cy="219456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26864" y="35204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7C00"/>
                </a:solidFill>
              </a:rPr>
              <a:t>anastruct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51376" y="4005072"/>
            <a:ext cx="219456" cy="219456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55264" y="42519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7C00"/>
                </a:solidFill>
              </a:rPr>
              <a:t>Frame3DD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054096" y="4645152"/>
            <a:ext cx="219456" cy="219456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57984" y="48920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7C00"/>
                </a:solidFill>
              </a:rPr>
              <a:t>CalculiX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88352" y="2395728"/>
            <a:ext cx="329184" cy="329184"/>
          </a:xfrm>
          <a:prstGeom prst="rect">
            <a:avLst/>
          </a:prstGeom>
          <a:solidFill>
            <a:srgbClr val="00A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98664" y="2514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ACC1"/>
                </a:solidFill>
              </a:rPr>
              <a:t>★  StructLabPro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1005840"/>
            <a:ext cx="3474720" cy="1554480"/>
          </a:xfrm>
          <a:prstGeom prst="rect">
            <a:avLst/>
          </a:prstGeom>
          <a:solidFill>
            <a:srgbClr val="222235"/>
          </a:solidFill>
          <a:ln w="19050">
            <a:solidFill>
              <a:srgbClr val="00AC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1078992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300" b="1" i="0">
                <a:solidFill>
                  <a:srgbClr val="00ACC1"/>
                </a:solidFill>
              </a:rPr>
              <a:t>StructLabPro targets the intersection:</a:t>
            </a:r>
          </a:p>
          <a:p>
            <a:pPr algn="l">
              <a:spcBef>
                <a:spcPts val="400"/>
              </a:spcBef>
            </a:pPr>
            <a:r>
              <a:rPr sz="1200" b="0" i="0">
                <a:solidFill>
                  <a:srgbClr val="EEEEEE"/>
                </a:solidFill>
              </a:rPr>
              <a:t>· Full desktop GUI for interactive modelling</a:t>
            </a:r>
          </a:p>
          <a:p>
            <a:pPr algn="l">
              <a:spcBef>
                <a:spcPts val="0"/>
              </a:spcBef>
            </a:pPr>
            <a:r>
              <a:rPr sz="1200" b="0" i="0">
                <a:solidFill>
                  <a:srgbClr val="EEEEEE"/>
                </a:solidFill>
              </a:rPr>
              <a:t>· Python SDK + embedded console for scripting</a:t>
            </a:r>
          </a:p>
          <a:p>
            <a:pPr algn="l">
              <a:spcBef>
                <a:spcPts val="0"/>
              </a:spcBef>
            </a:pPr>
            <a:r>
              <a:rPr sz="1200" b="0" i="0">
                <a:solidFill>
                  <a:srgbClr val="EEEEEE"/>
                </a:solidFill>
              </a:rPr>
              <a:t>· GPL v3 licence, standalone .exe, zero install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ACC1"/>
                </a:solidFill>
              </a:rPr>
              <a:t>What is StructLabPro?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999AA"/>
                </a:solidFill>
              </a:rPr>
              <a:t>A 2D &amp; 3D structural analysis desktop application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41248"/>
            <a:ext cx="11274552" cy="25400"/>
          </a:xfrm>
          <a:prstGeom prst="rect">
            <a:avLst/>
          </a:prstGeom>
          <a:solidFill>
            <a:srgbClr val="00A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875520" y="109728"/>
            <a:ext cx="2103120" cy="292608"/>
          </a:xfrm>
          <a:prstGeom prst="rect">
            <a:avLst/>
          </a:prstGeom>
          <a:solidFill>
            <a:srgbClr val="00A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21240" y="11887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A2A"/>
                </a:solidFill>
              </a:rPr>
              <a:t>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999AA"/>
                </a:solidFill>
              </a:rPr>
              <a:t>5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005840"/>
            <a:ext cx="1463040" cy="329184"/>
          </a:xfrm>
          <a:prstGeom prst="rect">
            <a:avLst/>
          </a:prstGeom>
          <a:solidFill>
            <a:srgbClr val="222235"/>
          </a:solidFill>
          <a:ln w="10160">
            <a:solidFill>
              <a:srgbClr val="00AC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04241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ACC1"/>
                </a:solidFill>
              </a:rPr>
              <a:t>Solver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1042416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EEEEE"/>
                </a:solidFill>
              </a:rPr>
              <a:t>Direct Stiffness Method — 2D (3 DOF/node) and 3D (6 DOF/node), unified engine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408176"/>
            <a:ext cx="1463040" cy="329184"/>
          </a:xfrm>
          <a:prstGeom prst="rect">
            <a:avLst/>
          </a:prstGeom>
          <a:solidFill>
            <a:srgbClr val="222235"/>
          </a:solidFill>
          <a:ln w="10160">
            <a:solidFill>
              <a:srgbClr val="00AC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144475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ACC1"/>
                </a:solidFill>
              </a:rPr>
              <a:t>Elements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1444752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EEEEE"/>
                </a:solidFill>
              </a:rPr>
              <a:t>Beams · Frames · Trusses · Bars · Spring supports · Pin releases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1810512"/>
            <a:ext cx="1463040" cy="329184"/>
          </a:xfrm>
          <a:prstGeom prst="rect">
            <a:avLst/>
          </a:prstGeom>
          <a:solidFill>
            <a:srgbClr val="222235"/>
          </a:solidFill>
          <a:ln w="10160">
            <a:solidFill>
              <a:srgbClr val="00AC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184708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ACC1"/>
                </a:solidFill>
              </a:rPr>
              <a:t>Loads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65960" y="1847088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EEEEE"/>
                </a:solidFill>
              </a:rPr>
              <a:t>Point loads · UDL · UVL · Nodal moments · EN 1990 load combinations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212848"/>
            <a:ext cx="1463040" cy="329184"/>
          </a:xfrm>
          <a:prstGeom prst="rect">
            <a:avLst/>
          </a:prstGeom>
          <a:solidFill>
            <a:srgbClr val="222235"/>
          </a:solidFill>
          <a:ln w="10160">
            <a:solidFill>
              <a:srgbClr val="00AC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224942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ACC1"/>
                </a:solidFill>
              </a:rPr>
              <a:t>GUI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2249424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EEEEE"/>
                </a:solidFill>
              </a:rPr>
              <a:t>PyQt6 desktop application — dark theme, interactive canvas, overlays (BMD/SFD/AFD/deformed shape)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615184"/>
            <a:ext cx="1463040" cy="329184"/>
          </a:xfrm>
          <a:prstGeom prst="rect">
            <a:avLst/>
          </a:prstGeom>
          <a:solidFill>
            <a:srgbClr val="222235"/>
          </a:solidFill>
          <a:ln w="10160">
            <a:solidFill>
              <a:srgbClr val="00AC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26517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ACC1"/>
                </a:solidFill>
              </a:rPr>
              <a:t>Sections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65960" y="265176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EEEEE"/>
                </a:solidFill>
              </a:rPr>
              <a:t>European steel section library (IPE, HEA, HEB, SHS, RHS) + custom sections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017520"/>
            <a:ext cx="1463040" cy="329184"/>
          </a:xfrm>
          <a:prstGeom prst="rect">
            <a:avLst/>
          </a:prstGeom>
          <a:solidFill>
            <a:srgbClr val="222235"/>
          </a:solidFill>
          <a:ln w="10160">
            <a:solidFill>
              <a:srgbClr val="00AC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305409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ACC1"/>
                </a:solidFill>
              </a:rPr>
              <a:t>Output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054096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EEEEE"/>
                </a:solidFill>
              </a:rPr>
              <a:t>Displacements · Reactions · Member forces · Design utilisation η · Multi-page PDF report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419856"/>
            <a:ext cx="1463040" cy="329184"/>
          </a:xfrm>
          <a:prstGeom prst="rect">
            <a:avLst/>
          </a:prstGeom>
          <a:solidFill>
            <a:srgbClr val="222235"/>
          </a:solidFill>
          <a:ln w="10160">
            <a:solidFill>
              <a:srgbClr val="00AC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345643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ACC1"/>
                </a:solidFill>
              </a:rPr>
              <a:t>SDK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65960" y="3456432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EEEEE"/>
                </a:solidFill>
              </a:rPr>
              <a:t>sdk.py Python API + embedded IPython console — model and solve without the GUI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3822192"/>
            <a:ext cx="1463040" cy="329184"/>
          </a:xfrm>
          <a:prstGeom prst="rect">
            <a:avLst/>
          </a:prstGeom>
          <a:solidFill>
            <a:srgbClr val="222235"/>
          </a:solidFill>
          <a:ln w="10160">
            <a:solidFill>
              <a:srgbClr val="00AC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385876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ACC1"/>
                </a:solidFill>
              </a:rPr>
              <a:t>Distribution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3858768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EEEEE"/>
                </a:solidFill>
              </a:rPr>
              <a:t>Standalone .exe via PyInstaller — no Python install required for end users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4224528"/>
            <a:ext cx="1463040" cy="329184"/>
          </a:xfrm>
          <a:prstGeom prst="rect">
            <a:avLst/>
          </a:prstGeom>
          <a:solidFill>
            <a:srgbClr val="222235"/>
          </a:solidFill>
          <a:ln w="10160">
            <a:solidFill>
              <a:srgbClr val="00AC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80" y="426110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ACC1"/>
                </a:solidFill>
              </a:rPr>
              <a:t>Licence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65960" y="4261104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EEEEE"/>
                </a:solidFill>
              </a:rPr>
              <a:t>GPL v3 — free to use, modify, distribute (copyleft)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ACC1"/>
                </a:solidFill>
              </a:rPr>
              <a:t>Architecture — One Engine, All Structure Types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999AA"/>
                </a:solidFill>
              </a:rPr>
              <a:t>2D/3D is auto-detected; no separate solver per mode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41248"/>
            <a:ext cx="11274552" cy="25400"/>
          </a:xfrm>
          <a:prstGeom prst="rect">
            <a:avLst/>
          </a:prstGeom>
          <a:solidFill>
            <a:srgbClr val="00A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875520" y="109728"/>
            <a:ext cx="2103120" cy="292608"/>
          </a:xfrm>
          <a:prstGeom prst="rect">
            <a:avLst/>
          </a:prstGeom>
          <a:solidFill>
            <a:srgbClr val="00A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21240" y="11887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A2A"/>
                </a:solidFill>
              </a:rPr>
              <a:t>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999AA"/>
                </a:solidFill>
              </a:rPr>
              <a:t>6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005840"/>
            <a:ext cx="11274552" cy="822960"/>
          </a:xfrm>
          <a:prstGeom prst="rect">
            <a:avLst/>
          </a:prstGeom>
          <a:solidFill>
            <a:srgbClr val="00ACC1"/>
          </a:solidFill>
          <a:ln w="19050">
            <a:solidFill>
              <a:srgbClr val="00AC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05156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A"/>
                </a:solidFill>
              </a:rPr>
              <a:t>GUI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408176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A"/>
                </a:solidFill>
              </a:rPr>
              <a:t>PyQt6 canvas  ·  Properties panel  ·  Load case manager  ·  Overlay diagrams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1837944"/>
            <a:ext cx="301752" cy="109728"/>
          </a:xfrm>
          <a:prstGeom prst="rect">
            <a:avLst/>
          </a:prstGeom>
          <a:solidFill>
            <a:srgbClr val="999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975104"/>
            <a:ext cx="11274552" cy="822960"/>
          </a:xfrm>
          <a:prstGeom prst="rect">
            <a:avLst/>
          </a:prstGeom>
          <a:solidFill>
            <a:srgbClr val="222235"/>
          </a:solidFill>
          <a:ln w="1016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020824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EEEEE"/>
                </a:solidFill>
              </a:rPr>
              <a:t>Model State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37744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999AA"/>
                </a:solidFill>
              </a:rPr>
              <a:t>NodeData  ·  MemberData  ·  LoadCase  ·  SupportType  (pure Python dataclasses)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0" y="2807208"/>
            <a:ext cx="301752" cy="109728"/>
          </a:xfrm>
          <a:prstGeom prst="rect">
            <a:avLst/>
          </a:prstGeom>
          <a:solidFill>
            <a:srgbClr val="999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2944368"/>
            <a:ext cx="11274552" cy="822960"/>
          </a:xfrm>
          <a:prstGeom prst="rect">
            <a:avLst/>
          </a:prstGeom>
          <a:solidFill>
            <a:srgbClr val="222235"/>
          </a:solidFill>
          <a:ln w="1016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299008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EEEEE"/>
                </a:solidFill>
              </a:rPr>
              <a:t>Model Builder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346704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999AA"/>
                </a:solidFill>
              </a:rPr>
              <a:t>ModelState → core Model bridge  ·  sub-node division for overlays  ·  z-coord auto-detect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0" y="3776472"/>
            <a:ext cx="301752" cy="109728"/>
          </a:xfrm>
          <a:prstGeom prst="rect">
            <a:avLst/>
          </a:prstGeom>
          <a:solidFill>
            <a:srgbClr val="999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3913632"/>
            <a:ext cx="11274552" cy="822960"/>
          </a:xfrm>
          <a:prstGeom prst="rect">
            <a:avLst/>
          </a:prstGeom>
          <a:solidFill>
            <a:srgbClr val="1A2A35"/>
          </a:solidFill>
          <a:ln w="1016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395935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ACC1"/>
                </a:solidFill>
              </a:rPr>
              <a:t>Core Engine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43159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999AA"/>
                </a:solidFill>
              </a:rPr>
              <a:t>FrameElement (2D 6×6 / 3D 12×12)  ·  Assembler  ·  LinearSolver  ·  Postprocessor  ·  FEM loads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0" y="4745736"/>
            <a:ext cx="301752" cy="109728"/>
          </a:xfrm>
          <a:prstGeom prst="rect">
            <a:avLst/>
          </a:prstGeom>
          <a:solidFill>
            <a:srgbClr val="999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4882896"/>
            <a:ext cx="11274552" cy="822960"/>
          </a:xfrm>
          <a:prstGeom prst="rect">
            <a:avLst/>
          </a:prstGeom>
          <a:solidFill>
            <a:srgbClr val="1A281A"/>
          </a:solidFill>
          <a:ln w="1016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4928616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3A047"/>
                </a:solidFill>
              </a:rPr>
              <a:t>Python SDK  /  IPython Console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528523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999AA"/>
                </a:solidFill>
              </a:rPr>
              <a:t>sdk.py  ·  build models in pure Python  ·  solve()  ·  query results  ·  matplotlib plots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0" y="5715000"/>
            <a:ext cx="301752" cy="109728"/>
          </a:xfrm>
          <a:prstGeom prst="rect">
            <a:avLst/>
          </a:prstGeom>
          <a:solidFill>
            <a:srgbClr val="999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6446520"/>
            <a:ext cx="11274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999AA"/>
                </a:solidFill>
              </a:rPr>
              <a:t>NumPy · SciPy · Matplotlib underpin the engine.  The GUI never bypasses the solver — it always goes through Model Builder → Core Engine.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ACC1"/>
                </a:solidFill>
              </a:rPr>
              <a:t>Modelling — Interactive Canvas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999AA"/>
                </a:solidFill>
              </a:rPr>
              <a:t>Draw structures directly or load from 30+ built-in presets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41248"/>
            <a:ext cx="11274552" cy="25400"/>
          </a:xfrm>
          <a:prstGeom prst="rect">
            <a:avLst/>
          </a:prstGeom>
          <a:solidFill>
            <a:srgbClr val="00A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875520" y="109728"/>
            <a:ext cx="2103120" cy="292608"/>
          </a:xfrm>
          <a:prstGeom prst="rect">
            <a:avLst/>
          </a:prstGeom>
          <a:solidFill>
            <a:srgbClr val="00A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21240" y="11887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A2A"/>
                </a:solidFill>
              </a:rPr>
              <a:t>Features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999AA"/>
                </a:solidFill>
              </a:rPr>
              <a:t>7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14400"/>
            <a:ext cx="3566160" cy="347472"/>
          </a:xfrm>
          <a:prstGeom prst="rect">
            <a:avLst/>
          </a:prstGeom>
          <a:solidFill>
            <a:srgbClr val="00A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" y="932688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A"/>
                </a:solidFill>
              </a:rPr>
              <a:t>Canvas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1325880"/>
            <a:ext cx="34747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EEEEEE"/>
                </a:solidFill>
              </a:rPr>
              <a:t>▸  Click to place nodes, drag to connect members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EEEEEE"/>
                </a:solidFill>
              </a:rPr>
              <a:t>▸  Snap-to-grid, multi-select, Ctrl+D duplicate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EEEEEE"/>
                </a:solidFill>
              </a:rPr>
              <a:t>▸  2D and 3D modes — isometric projection, working planes (XY / XZ / YZ)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EEEEEE"/>
                </a:solidFill>
              </a:rPr>
              <a:t>▸  Orbit, pan, zoom in 3D view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EEEEEE"/>
                </a:solidFill>
              </a:rPr>
              <a:t>▸  Selection filter: nodes / members / both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23360" y="914400"/>
            <a:ext cx="3566160" cy="347472"/>
          </a:xfrm>
          <a:prstGeom prst="rect">
            <a:avLst/>
          </a:prstGeom>
          <a:solidFill>
            <a:srgbClr val="00A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96512" y="932688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A"/>
                </a:solidFill>
              </a:rPr>
              <a:t>Element Types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96512" y="1325880"/>
            <a:ext cx="34747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EEEEEE"/>
                </a:solidFill>
              </a:rPr>
              <a:t>▸  Beam (continuous, with/without pin releases)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EEEEEE"/>
                </a:solidFill>
              </a:rPr>
              <a:t>▸  Frame (rigid joints, full 3 or 6 DOF)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EEEEEE"/>
                </a:solidFill>
              </a:rPr>
              <a:t>▸  Truss / Bar (pin at both ends)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EEEEEE"/>
                </a:solidFill>
              </a:rPr>
              <a:t>▸  Spring supports (translational &amp; rotational)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EEEEEE"/>
                </a:solidFill>
              </a:rPr>
              <a:t>▸  Mixed models — beams + columns + trusses in one model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80960" y="914400"/>
            <a:ext cx="3566160" cy="347472"/>
          </a:xfrm>
          <a:prstGeom prst="rect">
            <a:avLst/>
          </a:prstGeom>
          <a:solidFill>
            <a:srgbClr val="00A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54112" y="932688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A"/>
                </a:solidFill>
              </a:rPr>
              <a:t>Loads &amp; Cases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54112" y="1325880"/>
            <a:ext cx="34747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EEEEEE"/>
                </a:solidFill>
              </a:rPr>
              <a:t>▸  Point loads (Fx, Fy, Fz, Moment)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EEEEEE"/>
                </a:solidFill>
              </a:rPr>
              <a:t>▸  UDL and UVL (varying distributed) on members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EEEEEE"/>
                </a:solidFill>
              </a:rPr>
              <a:t>▸  EN 1990 named load cases (G, Q, W, …)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EEEEEE"/>
                </a:solidFill>
              </a:rPr>
              <a:t>▸  Load combinations with factors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EEEEEE"/>
                </a:solidFill>
              </a:rPr>
              <a:t>▸  Combination envelope (max / min across all combos)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EEEEEE"/>
                </a:solidFill>
              </a:rPr>
              <a:t>▸  Pattern loading detection (EN 1992-1-1)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ACC1"/>
                </a:solidFill>
              </a:rPr>
              <a:t>Results — Visual Overlays + Tabular 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999AA"/>
                </a:solidFill>
              </a:rPr>
              <a:t>Live diagrams drawn directly on the canvas after solve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41248"/>
            <a:ext cx="11274552" cy="25400"/>
          </a:xfrm>
          <a:prstGeom prst="rect">
            <a:avLst/>
          </a:prstGeom>
          <a:solidFill>
            <a:srgbClr val="00A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875520" y="109728"/>
            <a:ext cx="2103120" cy="292608"/>
          </a:xfrm>
          <a:prstGeom prst="rect">
            <a:avLst/>
          </a:prstGeom>
          <a:solidFill>
            <a:srgbClr val="00A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21240" y="11887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A2A"/>
                </a:solidFill>
              </a:rPr>
              <a:t>Features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999AA"/>
                </a:solidFill>
              </a:rPr>
              <a:t>8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005840"/>
            <a:ext cx="640080" cy="502920"/>
          </a:xfrm>
          <a:prstGeom prst="rect">
            <a:avLst/>
          </a:prstGeom>
          <a:solidFill>
            <a:srgbClr val="00A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078992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1A2A"/>
                </a:solidFill>
              </a:rPr>
              <a:t>BMD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0515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EEEEE"/>
                </a:solidFill>
              </a:rPr>
              <a:t>Bending Moment Diagram — filled, sign-correct
(sagging below baseline, hogging above)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645920"/>
            <a:ext cx="640080" cy="50292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719072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1A2A"/>
                </a:solidFill>
              </a:rPr>
              <a:t>SFD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16916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EEEEE"/>
                </a:solidFill>
              </a:rPr>
              <a:t>Shear Force Diagram — peak values labelled at critical sections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286000"/>
            <a:ext cx="640080" cy="5029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2359152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1A2A"/>
                </a:solidFill>
              </a:rPr>
              <a:t>AFD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23317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EEEEE"/>
                </a:solidFill>
              </a:rPr>
              <a:t>Axial Force Diagram — compression / tension colour-coded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926080"/>
            <a:ext cx="640080" cy="50292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2999232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1A2A"/>
                </a:solidFill>
              </a:rPr>
              <a:t>Def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29718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EEEEE"/>
                </a:solidFill>
              </a:rPr>
              <a:t>Deformed Shape — scaled, shows buckled mode visually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914400"/>
            <a:ext cx="5486400" cy="5303520"/>
          </a:xfrm>
          <a:prstGeom prst="rect">
            <a:avLst/>
          </a:prstGeom>
          <a:solidFill>
            <a:srgbClr val="222235"/>
          </a:solidFill>
          <a:ln w="1016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987552"/>
            <a:ext cx="52120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300" b="1" i="0">
                <a:solidFill>
                  <a:srgbClr val="00ACC1"/>
                </a:solidFill>
              </a:rPr>
              <a:t>Results Panel — four tabs:</a:t>
            </a:r>
          </a:p>
          <a:p>
            <a:pPr algn="l">
              <a:spcBef>
                <a:spcPts val="600"/>
              </a:spcBef>
            </a:pPr>
            <a:r>
              <a:rPr sz="1200" b="1" i="0">
                <a:solidFill>
                  <a:srgbClr val="EEEEEE"/>
                </a:solidFill>
              </a:rPr>
              <a:t>▸ Displacements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9999AA"/>
                </a:solidFill>
              </a:rPr>
              <a:t>   dx, dy (mm) · θ (mrad) per node</a:t>
            </a:r>
          </a:p>
          <a:p>
            <a:pPr algn="l">
              <a:spcBef>
                <a:spcPts val="600"/>
              </a:spcBef>
            </a:pPr>
            <a:r>
              <a:rPr sz="1200" b="1" i="0">
                <a:solidFill>
                  <a:srgbClr val="EEEEEE"/>
                </a:solidFill>
              </a:rPr>
              <a:t>▸ Reactions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9999AA"/>
                </a:solidFill>
              </a:rPr>
              <a:t>   Fx, Fy (kN) · M (kN·m) at supports</a:t>
            </a:r>
          </a:p>
          <a:p>
            <a:pPr algn="l">
              <a:spcBef>
                <a:spcPts val="600"/>
              </a:spcBef>
            </a:pPr>
            <a:r>
              <a:rPr sz="1200" b="1" i="0">
                <a:solidFill>
                  <a:srgbClr val="EEEEEE"/>
                </a:solidFill>
              </a:rPr>
              <a:t>▸ Member forces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9999AA"/>
                </a:solidFill>
              </a:rPr>
              <a:t>   N, V end-pair + M+ peak sagging · M− peak hogging + x/L position</a:t>
            </a:r>
          </a:p>
          <a:p>
            <a:pPr algn="l">
              <a:spcBef>
                <a:spcPts val="600"/>
              </a:spcBef>
            </a:pPr>
            <a:r>
              <a:rPr sz="1200" b="1" i="0">
                <a:solidFill>
                  <a:srgbClr val="EEEEEE"/>
                </a:solidFill>
              </a:rPr>
              <a:t>▸ Design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9999AA"/>
                </a:solidFill>
              </a:rPr>
              <a:t>   M_Ed vs M_Rd · utilisation η (%) · Pass / Fail status</a:t>
            </a:r>
          </a:p>
          <a:p>
            <a:pPr algn="l">
              <a:spcBef>
                <a:spcPts val="0"/>
              </a:spcBef>
            </a:pPr>
            <a:r>
              <a:rPr sz="800" b="0" i="0">
                <a:solidFill>
                  <a:srgbClr val="EEEEEE"/>
                </a:solidFill>
              </a:rPr>
              <a:t/>
            </a:r>
          </a:p>
          <a:p>
            <a:pPr algn="l">
              <a:spcBef>
                <a:spcPts val="600"/>
              </a:spcBef>
            </a:pPr>
            <a:r>
              <a:rPr sz="1300" b="1" i="0">
                <a:solidFill>
                  <a:srgbClr val="00ACC1"/>
                </a:solidFill>
              </a:rPr>
              <a:t>Bidirectional selection:</a:t>
            </a:r>
          </a:p>
          <a:p>
            <a:pPr algn="l">
              <a:spcBef>
                <a:spcPts val="400"/>
              </a:spcBef>
            </a:pPr>
            <a:r>
              <a:rPr sz="1200" b="0" i="0">
                <a:solidFill>
                  <a:srgbClr val="EEEEEE"/>
                </a:solidFill>
              </a:rPr>
              <a:t>Click a table row → highlights member on canvas</a:t>
            </a:r>
          </a:p>
          <a:p>
            <a:pPr algn="l">
              <a:spcBef>
                <a:spcPts val="0"/>
              </a:spcBef>
            </a:pPr>
            <a:r>
              <a:rPr sz="1200" b="0" i="0">
                <a:solidFill>
                  <a:srgbClr val="EEEEEE"/>
                </a:solidFill>
              </a:rPr>
              <a:t>Click canvas member → scrolls to that row in table</a:t>
            </a:r>
          </a:p>
          <a:p>
            <a:pPr algn="l">
              <a:spcBef>
                <a:spcPts val="0"/>
              </a:spcBef>
            </a:pPr>
            <a:r>
              <a:rPr sz="800" b="0" i="0">
                <a:solidFill>
                  <a:srgbClr val="EEEEEE"/>
                </a:solidFill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300" b="1" i="0">
                <a:solidFill>
                  <a:srgbClr val="00ACC1"/>
                </a:solidFill>
              </a:rPr>
              <a:t>PDF Report:</a:t>
            </a:r>
          </a:p>
          <a:p>
            <a:pPr algn="l">
              <a:spcBef>
                <a:spcPts val="400"/>
              </a:spcBef>
            </a:pPr>
            <a:r>
              <a:rPr sz="1200" b="0" i="0">
                <a:solidFill>
                  <a:srgbClr val="EEEEEE"/>
                </a:solidFill>
              </a:rPr>
              <a:t>Multi-page A4 · geometry + loads + diagrams + full results table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ACC1"/>
                </a:solidFill>
              </a:rPr>
              <a:t>Python SDK &amp; Embedded Console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999AA"/>
                </a:solidFill>
              </a:rPr>
              <a:t>The GUI and the scripting interface share the same live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41248"/>
            <a:ext cx="11274552" cy="25400"/>
          </a:xfrm>
          <a:prstGeom prst="rect">
            <a:avLst/>
          </a:prstGeom>
          <a:solidFill>
            <a:srgbClr val="00A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875520" y="109728"/>
            <a:ext cx="2103120" cy="292608"/>
          </a:xfrm>
          <a:prstGeom prst="rect">
            <a:avLst/>
          </a:prstGeom>
          <a:solidFill>
            <a:srgbClr val="00A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21240" y="11887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A2A"/>
                </a:solidFill>
              </a:rPr>
              <a:t>Features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999AA"/>
                </a:solidFill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987552"/>
            <a:ext cx="4389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300" b="1" i="0">
                <a:solidFill>
                  <a:srgbClr val="00ACC1"/>
                </a:solidFill>
              </a:rPr>
              <a:t>sdk.py — build and solve in pure Python:</a:t>
            </a:r>
          </a:p>
          <a:p>
            <a:pPr algn="l">
              <a:spcBef>
                <a:spcPts val="500"/>
              </a:spcBef>
            </a:pPr>
            <a:r>
              <a:rPr sz="1200" b="0" i="0">
                <a:solidFill>
                  <a:srgbClr val="EEEEEE"/>
                </a:solidFill>
              </a:rPr>
              <a:t>▸  No GUI needed — runs in any Python environment</a:t>
            </a:r>
          </a:p>
          <a:p>
            <a:pPr algn="l">
              <a:spcBef>
                <a:spcPts val="500"/>
              </a:spcBef>
            </a:pPr>
            <a:r>
              <a:rPr sz="1200" b="0" i="0">
                <a:solidFill>
                  <a:srgbClr val="EEEEEE"/>
                </a:solidFill>
              </a:rPr>
              <a:t>▸  Same engine as the desktop app (single code path)</a:t>
            </a:r>
          </a:p>
          <a:p>
            <a:pPr algn="l">
              <a:spcBef>
                <a:spcPts val="500"/>
              </a:spcBef>
            </a:pPr>
            <a:r>
              <a:rPr sz="1200" b="0" i="0">
                <a:solidFill>
                  <a:srgbClr val="EEEEEE"/>
                </a:solidFill>
              </a:rPr>
              <a:t>▸  Ideal for parametric studies, lecture examples, automated checks</a:t>
            </a:r>
          </a:p>
          <a:p>
            <a:pPr algn="l">
              <a:spcBef>
                <a:spcPts val="500"/>
              </a:spcBef>
            </a:pPr>
            <a:r>
              <a:rPr sz="1200" b="0" i="0">
                <a:solidFill>
                  <a:srgbClr val="EEEEEE"/>
                </a:solidFill>
              </a:rPr>
              <a:t>▸  Results returned as typed Python objects (not strings)</a:t>
            </a:r>
          </a:p>
          <a:p>
            <a:pPr algn="l">
              <a:spcBef>
                <a:spcPts val="0"/>
              </a:spcBef>
            </a:pPr>
            <a:r>
              <a:rPr sz="800" b="0" i="0">
                <a:solidFill>
                  <a:srgbClr val="EEEEEE"/>
                </a:solidFill>
              </a:rPr>
              <a:t/>
            </a:r>
          </a:p>
          <a:p>
            <a:pPr algn="l">
              <a:spcBef>
                <a:spcPts val="600"/>
              </a:spcBef>
            </a:pPr>
            <a:r>
              <a:rPr sz="1300" b="1" i="0">
                <a:solidFill>
                  <a:srgbClr val="00ACC1"/>
                </a:solidFill>
              </a:rPr>
              <a:t>Embedded IPython Console:</a:t>
            </a:r>
          </a:p>
          <a:p>
            <a:pPr algn="l">
              <a:spcBef>
                <a:spcPts val="500"/>
              </a:spcBef>
            </a:pPr>
            <a:r>
              <a:rPr sz="1200" b="0" i="0">
                <a:solidFill>
                  <a:srgbClr val="EEEEEE"/>
                </a:solidFill>
              </a:rPr>
              <a:t>▸  Opens inside the running app (qtconsole)</a:t>
            </a:r>
          </a:p>
          <a:p>
            <a:pPr algn="l">
              <a:spcBef>
                <a:spcPts val="500"/>
              </a:spcBef>
            </a:pPr>
            <a:r>
              <a:rPr sz="1200" b="0" i="0">
                <a:solidFill>
                  <a:srgbClr val="EEEEEE"/>
                </a:solidFill>
              </a:rPr>
              <a:t>▸  model, state, sdk, np, plt pre-injected</a:t>
            </a:r>
          </a:p>
          <a:p>
            <a:pPr algn="l">
              <a:spcBef>
                <a:spcPts val="500"/>
              </a:spcBef>
            </a:pPr>
            <a:r>
              <a:rPr sz="1200" b="0" i="0">
                <a:solidFill>
                  <a:srgbClr val="EEEEEE"/>
                </a:solidFill>
              </a:rPr>
              <a:t>▸  Inspect, modify, or extend the current canvas model</a:t>
            </a:r>
          </a:p>
          <a:p>
            <a:pPr algn="l">
              <a:spcBef>
                <a:spcPts val="500"/>
              </a:spcBef>
            </a:pPr>
            <a:r>
              <a:rPr sz="1200" b="0" i="0">
                <a:solidFill>
                  <a:srgbClr val="EEEEEE"/>
                </a:solidFill>
              </a:rPr>
              <a:t>▸  matplotlib plots open in separate windows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0" y="914400"/>
            <a:ext cx="6858000" cy="5394960"/>
          </a:xfrm>
          <a:prstGeom prst="rect">
            <a:avLst/>
          </a:prstGeom>
          <a:solidFill>
            <a:srgbClr val="0D0D17"/>
          </a:solidFill>
          <a:ln w="15240">
            <a:solidFill>
              <a:srgbClr val="00AC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005840"/>
            <a:ext cx="6583680" cy="5212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43A047"/>
                </a:solidFill>
                <a:latin typeface="Consolas"/>
              </a:rPr>
              <a:t># Simply supported steel beam — 6 m, UDL 15 kN/m</a:t>
            </a:r>
          </a:p>
          <a:p>
            <a:r>
              <a:rPr sz="1200">
                <a:solidFill>
                  <a:srgbClr val="00ACC1"/>
                </a:solidFill>
                <a:latin typeface="Consolas"/>
              </a:rPr>
              <a:t>import sdk</a:t>
            </a:r>
          </a:p>
          <a:p>
            <a:r>
              <a:rPr sz="1200">
                <a:solidFill>
                  <a:srgbClr val="EEEEEE"/>
                </a:solidFill>
                <a:latin typeface="Consolas"/>
              </a:rPr>
              <a:t/>
            </a:r>
          </a:p>
          <a:p>
            <a:r>
              <a:rPr sz="1200">
                <a:solidFill>
                  <a:srgbClr val="EEEEEE"/>
                </a:solidFill>
                <a:latin typeface="Consolas"/>
              </a:rPr>
              <a:t>m = sdk.Model()</a:t>
            </a:r>
          </a:p>
          <a:p>
            <a:r>
              <a:rPr sz="1200">
                <a:solidFill>
                  <a:srgbClr val="EEEEEE"/>
                </a:solidFill>
                <a:latin typeface="Consolas"/>
              </a:rPr>
              <a:t>n0 = m.add_node(0, 0, 0)</a:t>
            </a:r>
          </a:p>
          <a:p>
            <a:r>
              <a:rPr sz="1200">
                <a:solidFill>
                  <a:srgbClr val="EEEEEE"/>
                </a:solidFill>
                <a:latin typeface="Consolas"/>
              </a:rPr>
              <a:t>n1 = m.add_node(6, 0, 0)</a:t>
            </a:r>
          </a:p>
          <a:p>
            <a:r>
              <a:rPr sz="1200">
                <a:solidFill>
                  <a:srgbClr val="EEEEEE"/>
                </a:solidFill>
                <a:latin typeface="Consolas"/>
              </a:rPr>
              <a:t>m.pin(n0)</a:t>
            </a:r>
          </a:p>
          <a:p>
            <a:r>
              <a:rPr sz="1200">
                <a:solidFill>
                  <a:srgbClr val="EEEEEE"/>
                </a:solidFill>
                <a:latin typeface="Consolas"/>
              </a:rPr>
              <a:t>m.roller(n1)</a:t>
            </a:r>
          </a:p>
          <a:p>
            <a:r>
              <a:rPr sz="1200">
                <a:solidFill>
                  <a:srgbClr val="EEEEEE"/>
                </a:solidFill>
                <a:latin typeface="Consolas"/>
              </a:rPr>
              <a:t/>
            </a:r>
          </a:p>
          <a:p>
            <a:r>
              <a:rPr sz="1200">
                <a:solidFill>
                  <a:srgbClr val="EEEEEE"/>
                </a:solidFill>
                <a:latin typeface="Consolas"/>
              </a:rPr>
              <a:t>beam = m.add_member(n0, n1)</a:t>
            </a:r>
          </a:p>
          <a:p>
            <a:r>
              <a:rPr sz="1200">
                <a:solidFill>
                  <a:srgbClr val="EEEEEE"/>
                </a:solidFill>
                <a:latin typeface="Consolas"/>
              </a:rPr>
              <a:t>beam.set_section(E=210e9, A=5.381e-3, I=8.356e-5)  # IPE 300</a:t>
            </a:r>
          </a:p>
          <a:p>
            <a:r>
              <a:rPr sz="1200">
                <a:solidFill>
                  <a:srgbClr val="EEEEEE"/>
                </a:solidFill>
                <a:latin typeface="Consolas"/>
              </a:rPr>
              <a:t>m.add_udl(beam, w=15_000)   # 15 kN/m downward</a:t>
            </a:r>
          </a:p>
          <a:p>
            <a:r>
              <a:rPr sz="1200">
                <a:solidFill>
                  <a:srgbClr val="EEEEEE"/>
                </a:solidFill>
                <a:latin typeface="Consolas"/>
              </a:rPr>
              <a:t/>
            </a:r>
          </a:p>
          <a:p>
            <a:r>
              <a:rPr sz="1200">
                <a:solidFill>
                  <a:srgbClr val="EEEEEE"/>
                </a:solidFill>
                <a:latin typeface="Consolas"/>
              </a:rPr>
              <a:t>res = m.solve()</a:t>
            </a:r>
          </a:p>
          <a:p>
            <a:r>
              <a:rPr sz="1200">
                <a:solidFill>
                  <a:srgbClr val="EEEEEE"/>
                </a:solidFill>
                <a:latin typeface="Consolas"/>
              </a:rPr>
              <a:t>print(res.max_deflection())  # → 7.03 mm</a:t>
            </a:r>
          </a:p>
          <a:p>
            <a:r>
              <a:rPr sz="1200">
                <a:solidFill>
                  <a:srgbClr val="EEEEEE"/>
                </a:solidFill>
                <a:latin typeface="Consolas"/>
              </a:rPr>
              <a:t>res.plot_bmd()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875520" y="109728"/>
            <a:ext cx="2103120" cy="292608"/>
          </a:xfrm>
          <a:prstGeom prst="rect">
            <a:avLst/>
          </a:prstGeom>
          <a:solidFill>
            <a:srgbClr val="00A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21240" y="11887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A2A"/>
                </a:solidFill>
              </a:rPr>
              <a:t>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999AA"/>
                </a:solidFill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8288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00ACC1"/>
                </a:solidFill>
              </a:rPr>
              <a:t>Live Demonstration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31089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EEEEEE"/>
                </a:solidFill>
              </a:rPr>
              <a:t>1  ·  Launch → welcome dialog → load Steel Industrial Portal preset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3566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EEEEEE"/>
                </a:solidFill>
              </a:rPr>
              <a:t>2  ·  Add a load case · solve · walk through BMD / SFD overlays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40233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EEEEEE"/>
                </a:solidFill>
              </a:rPr>
              <a:t>3  ·  Generate PDF report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44805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EEEEEE"/>
                </a:solidFill>
              </a:rPr>
              <a:t>4  ·  Switch to 3D — open 3D Floor Grid preset · orbit · solve · deformed shape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49377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EEEEEE"/>
                </a:solidFill>
              </a:rPr>
              <a:t>5  ·  Open Python console · query model · plot BMD from the console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ACC1"/>
                </a:solidFill>
              </a:rPr>
              <a:t>Validation — 20 Benchmark Cases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999AA"/>
                </a:solidFill>
              </a:rPr>
              <a:t>StructLabPro vs OpenSeesPy (where applicable) and analytical solutions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41248"/>
            <a:ext cx="11274552" cy="25400"/>
          </a:xfrm>
          <a:prstGeom prst="rect">
            <a:avLst/>
          </a:prstGeom>
          <a:solidFill>
            <a:srgbClr val="00A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875520" y="109728"/>
            <a:ext cx="2103120" cy="292608"/>
          </a:xfrm>
          <a:prstGeom prst="rect">
            <a:avLst/>
          </a:prstGeom>
          <a:solidFill>
            <a:srgbClr val="00A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21240" y="11887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A2A"/>
                </a:solidFill>
              </a:rPr>
              <a:t>Validation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999AA"/>
                </a:solidFill>
              </a:rPr>
              <a:t>11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960120"/>
            <a:ext cx="521207" cy="256032"/>
          </a:xfrm>
          <a:prstGeom prst="rect">
            <a:avLst/>
          </a:prstGeom>
          <a:solidFill>
            <a:srgbClr val="00A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1752" y="978408"/>
            <a:ext cx="4937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2A"/>
                </a:solidFill>
              </a:rPr>
              <a:t>ID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960120"/>
            <a:ext cx="886968" cy="256032"/>
          </a:xfrm>
          <a:prstGeom prst="rect">
            <a:avLst/>
          </a:prstGeom>
          <a:solidFill>
            <a:srgbClr val="00A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978408"/>
            <a:ext cx="8595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2A"/>
                </a:solidFill>
              </a:rPr>
              <a:t>Type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737360" y="960120"/>
            <a:ext cx="4361688" cy="256032"/>
          </a:xfrm>
          <a:prstGeom prst="rect">
            <a:avLst/>
          </a:prstGeom>
          <a:solidFill>
            <a:srgbClr val="00A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64792" y="978408"/>
            <a:ext cx="43342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2A"/>
                </a:solidFill>
              </a:rPr>
              <a:t>Description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960120"/>
            <a:ext cx="3172968" cy="256032"/>
          </a:xfrm>
          <a:prstGeom prst="rect">
            <a:avLst/>
          </a:prstGeom>
          <a:solidFill>
            <a:srgbClr val="00A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3912" y="978408"/>
            <a:ext cx="31455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2A"/>
                </a:solidFill>
              </a:rPr>
              <a:t>Reference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0" y="960120"/>
            <a:ext cx="1344168" cy="256032"/>
          </a:xfrm>
          <a:prstGeom prst="rect">
            <a:avLst/>
          </a:prstGeom>
          <a:solidFill>
            <a:srgbClr val="00A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54312" y="978408"/>
            <a:ext cx="13167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2A"/>
                </a:solidFill>
              </a:rPr>
              <a:t>Max error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1216152"/>
            <a:ext cx="521207" cy="256032"/>
          </a:xfrm>
          <a:prstGeom prst="rect">
            <a:avLst/>
          </a:prstGeom>
          <a:solidFill>
            <a:srgbClr val="222235"/>
          </a:solidFill>
          <a:ln w="508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1752" y="1225296"/>
            <a:ext cx="4937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ACC1"/>
                </a:solidFill>
              </a:rPr>
              <a:t>B1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1216152"/>
            <a:ext cx="886968" cy="256032"/>
          </a:xfrm>
          <a:prstGeom prst="rect">
            <a:avLst/>
          </a:prstGeom>
          <a:solidFill>
            <a:srgbClr val="222235"/>
          </a:solidFill>
          <a:ln w="508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" y="1225296"/>
            <a:ext cx="8595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EEEEE"/>
                </a:solidFill>
              </a:rPr>
              <a:t>Beam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737360" y="1216152"/>
            <a:ext cx="4361688" cy="256032"/>
          </a:xfrm>
          <a:prstGeom prst="rect">
            <a:avLst/>
          </a:prstGeom>
          <a:solidFill>
            <a:srgbClr val="222235"/>
          </a:solidFill>
          <a:ln w="508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764792" y="1225296"/>
            <a:ext cx="43342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EEEEE"/>
                </a:solidFill>
              </a:rPr>
              <a:t>Simply supported beam — midspan point load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26480" y="1216152"/>
            <a:ext cx="3172968" cy="256032"/>
          </a:xfrm>
          <a:prstGeom prst="rect">
            <a:avLst/>
          </a:prstGeom>
          <a:solidFill>
            <a:srgbClr val="222235"/>
          </a:solidFill>
          <a:ln w="508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53912" y="1225296"/>
            <a:ext cx="31455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EEEEE"/>
                </a:solidFill>
              </a:rPr>
              <a:t>Analytical (Euler-Bernoulli)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326880" y="1216152"/>
            <a:ext cx="1344168" cy="256032"/>
          </a:xfrm>
          <a:prstGeom prst="rect">
            <a:avLst/>
          </a:prstGeom>
          <a:solidFill>
            <a:srgbClr val="222235"/>
          </a:solidFill>
          <a:ln w="508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54312" y="1225296"/>
            <a:ext cx="13167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3A047"/>
                </a:solidFill>
              </a:rPr>
              <a:t>0.00%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1472184"/>
            <a:ext cx="521207" cy="256032"/>
          </a:xfrm>
          <a:prstGeom prst="rect">
            <a:avLst/>
          </a:prstGeom>
          <a:solidFill>
            <a:srgbClr val="1A1A2A"/>
          </a:solidFill>
          <a:ln w="508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1752" y="1481328"/>
            <a:ext cx="4937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ACC1"/>
                </a:solidFill>
              </a:rPr>
              <a:t>B2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" y="1472184"/>
            <a:ext cx="886968" cy="256032"/>
          </a:xfrm>
          <a:prstGeom prst="rect">
            <a:avLst/>
          </a:prstGeom>
          <a:solidFill>
            <a:srgbClr val="1A1A2A"/>
          </a:solidFill>
          <a:ln w="508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0392" y="1481328"/>
            <a:ext cx="8595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EEEEE"/>
                </a:solidFill>
              </a:rPr>
              <a:t>Beam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737360" y="1472184"/>
            <a:ext cx="4361688" cy="256032"/>
          </a:xfrm>
          <a:prstGeom prst="rect">
            <a:avLst/>
          </a:prstGeom>
          <a:solidFill>
            <a:srgbClr val="1A1A2A"/>
          </a:solidFill>
          <a:ln w="508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764792" y="1481328"/>
            <a:ext cx="43342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EEEEE"/>
                </a:solidFill>
              </a:rPr>
              <a:t>Propped cantilever — UDL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26480" y="1472184"/>
            <a:ext cx="3172968" cy="256032"/>
          </a:xfrm>
          <a:prstGeom prst="rect">
            <a:avLst/>
          </a:prstGeom>
          <a:solidFill>
            <a:srgbClr val="1A1A2A"/>
          </a:solidFill>
          <a:ln w="508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53912" y="1481328"/>
            <a:ext cx="31455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EEEEE"/>
                </a:solidFill>
              </a:rPr>
              <a:t>Analytical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326880" y="1472184"/>
            <a:ext cx="1344168" cy="256032"/>
          </a:xfrm>
          <a:prstGeom prst="rect">
            <a:avLst/>
          </a:prstGeom>
          <a:solidFill>
            <a:srgbClr val="1A1A2A"/>
          </a:solidFill>
          <a:ln w="508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54312" y="1481328"/>
            <a:ext cx="13167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3A047"/>
                </a:solidFill>
              </a:rPr>
              <a:t>0.00%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1728216"/>
            <a:ext cx="521207" cy="256032"/>
          </a:xfrm>
          <a:prstGeom prst="rect">
            <a:avLst/>
          </a:prstGeom>
          <a:solidFill>
            <a:srgbClr val="222235"/>
          </a:solidFill>
          <a:ln w="508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01752" y="1737360"/>
            <a:ext cx="4937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ACC1"/>
                </a:solidFill>
              </a:rPr>
              <a:t>B3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22960" y="1728216"/>
            <a:ext cx="886968" cy="256032"/>
          </a:xfrm>
          <a:prstGeom prst="rect">
            <a:avLst/>
          </a:prstGeom>
          <a:solidFill>
            <a:srgbClr val="222235"/>
          </a:solidFill>
          <a:ln w="508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50392" y="1737360"/>
            <a:ext cx="8595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EEEEE"/>
                </a:solidFill>
              </a:rPr>
              <a:t>Beam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737360" y="1728216"/>
            <a:ext cx="4361688" cy="256032"/>
          </a:xfrm>
          <a:prstGeom prst="rect">
            <a:avLst/>
          </a:prstGeom>
          <a:solidFill>
            <a:srgbClr val="222235"/>
          </a:solidFill>
          <a:ln w="508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764792" y="1737360"/>
            <a:ext cx="43342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EEEEE"/>
                </a:solidFill>
              </a:rPr>
              <a:t>Fixed-fixed beam — UDL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26480" y="1728216"/>
            <a:ext cx="3172968" cy="256032"/>
          </a:xfrm>
          <a:prstGeom prst="rect">
            <a:avLst/>
          </a:prstGeom>
          <a:solidFill>
            <a:srgbClr val="222235"/>
          </a:solidFill>
          <a:ln w="508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153912" y="1737360"/>
            <a:ext cx="31455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EEEEE"/>
                </a:solidFill>
              </a:rPr>
              <a:t>Analytical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326880" y="1728216"/>
            <a:ext cx="1344168" cy="256032"/>
          </a:xfrm>
          <a:prstGeom prst="rect">
            <a:avLst/>
          </a:prstGeom>
          <a:solidFill>
            <a:srgbClr val="222235"/>
          </a:solidFill>
          <a:ln w="508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354312" y="1737360"/>
            <a:ext cx="13167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3A047"/>
                </a:solidFill>
              </a:rPr>
              <a:t>0.00%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4320" y="1984248"/>
            <a:ext cx="521207" cy="256032"/>
          </a:xfrm>
          <a:prstGeom prst="rect">
            <a:avLst/>
          </a:prstGeom>
          <a:solidFill>
            <a:srgbClr val="1A1A2A"/>
          </a:solidFill>
          <a:ln w="508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1752" y="1993392"/>
            <a:ext cx="4937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ACC1"/>
                </a:solidFill>
              </a:rPr>
              <a:t>B4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22960" y="1984248"/>
            <a:ext cx="886968" cy="256032"/>
          </a:xfrm>
          <a:prstGeom prst="rect">
            <a:avLst/>
          </a:prstGeom>
          <a:solidFill>
            <a:srgbClr val="1A1A2A"/>
          </a:solidFill>
          <a:ln w="508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50392" y="1993392"/>
            <a:ext cx="8595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EEEEE"/>
                </a:solidFill>
              </a:rPr>
              <a:t>Beam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737360" y="1984248"/>
            <a:ext cx="4361688" cy="256032"/>
          </a:xfrm>
          <a:prstGeom prst="rect">
            <a:avLst/>
          </a:prstGeom>
          <a:solidFill>
            <a:srgbClr val="1A1A2A"/>
          </a:solidFill>
          <a:ln w="508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764792" y="1993392"/>
            <a:ext cx="43342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EEEEE"/>
                </a:solidFill>
              </a:rPr>
              <a:t>3-span continuous beam — mixed loads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26480" y="1984248"/>
            <a:ext cx="3172968" cy="256032"/>
          </a:xfrm>
          <a:prstGeom prst="rect">
            <a:avLst/>
          </a:prstGeom>
          <a:solidFill>
            <a:srgbClr val="1A1A2A"/>
          </a:solidFill>
          <a:ln w="508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53912" y="1993392"/>
            <a:ext cx="31455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EEEEE"/>
                </a:solidFill>
              </a:rPr>
              <a:t>OpenSeesPy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326880" y="1984248"/>
            <a:ext cx="1344168" cy="256032"/>
          </a:xfrm>
          <a:prstGeom prst="rect">
            <a:avLst/>
          </a:prstGeom>
          <a:solidFill>
            <a:srgbClr val="1A1A2A"/>
          </a:solidFill>
          <a:ln w="508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354312" y="1993392"/>
            <a:ext cx="13167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3A047"/>
                </a:solidFill>
              </a:rPr>
              <a:t>0.00%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74320" y="2240280"/>
            <a:ext cx="521207" cy="256032"/>
          </a:xfrm>
          <a:prstGeom prst="rect">
            <a:avLst/>
          </a:prstGeom>
          <a:solidFill>
            <a:srgbClr val="222235"/>
          </a:solidFill>
          <a:ln w="508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01752" y="2249424"/>
            <a:ext cx="4937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ACC1"/>
                </a:solidFill>
              </a:rPr>
              <a:t>B5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22960" y="2240280"/>
            <a:ext cx="886968" cy="256032"/>
          </a:xfrm>
          <a:prstGeom prst="rect">
            <a:avLst/>
          </a:prstGeom>
          <a:solidFill>
            <a:srgbClr val="222235"/>
          </a:solidFill>
          <a:ln w="508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50392" y="2249424"/>
            <a:ext cx="8595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EEEEE"/>
                </a:solidFill>
              </a:rPr>
              <a:t>Beam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737360" y="2240280"/>
            <a:ext cx="4361688" cy="256032"/>
          </a:xfrm>
          <a:prstGeom prst="rect">
            <a:avLst/>
          </a:prstGeom>
          <a:solidFill>
            <a:srgbClr val="222235"/>
          </a:solidFill>
          <a:ln w="508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764792" y="2249424"/>
            <a:ext cx="43342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EEEEE"/>
                </a:solidFill>
              </a:rPr>
              <a:t>Gerber beam — internal hinge (pin release)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126480" y="2240280"/>
            <a:ext cx="3172968" cy="256032"/>
          </a:xfrm>
          <a:prstGeom prst="rect">
            <a:avLst/>
          </a:prstGeom>
          <a:solidFill>
            <a:srgbClr val="222235"/>
          </a:solidFill>
          <a:ln w="508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153912" y="2249424"/>
            <a:ext cx="31455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EEEEE"/>
                </a:solidFill>
              </a:rPr>
              <a:t>Analytical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326880" y="2240280"/>
            <a:ext cx="1344168" cy="256032"/>
          </a:xfrm>
          <a:prstGeom prst="rect">
            <a:avLst/>
          </a:prstGeom>
          <a:solidFill>
            <a:srgbClr val="222235"/>
          </a:solidFill>
          <a:ln w="508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354312" y="2249424"/>
            <a:ext cx="13167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3A047"/>
                </a:solidFill>
              </a:rPr>
              <a:t>0.00%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74320" y="2496312"/>
            <a:ext cx="521207" cy="256032"/>
          </a:xfrm>
          <a:prstGeom prst="rect">
            <a:avLst/>
          </a:prstGeom>
          <a:solidFill>
            <a:srgbClr val="1A1A2A"/>
          </a:solidFill>
          <a:ln w="508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01752" y="2505456"/>
            <a:ext cx="4937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ACC1"/>
                </a:solidFill>
              </a:rPr>
              <a:t>F1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22960" y="2496312"/>
            <a:ext cx="886968" cy="256032"/>
          </a:xfrm>
          <a:prstGeom prst="rect">
            <a:avLst/>
          </a:prstGeom>
          <a:solidFill>
            <a:srgbClr val="1A1A2A"/>
          </a:solidFill>
          <a:ln w="508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50392" y="2505456"/>
            <a:ext cx="8595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EEEEE"/>
                </a:solidFill>
              </a:rPr>
              <a:t>Frame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737360" y="2496312"/>
            <a:ext cx="4361688" cy="256032"/>
          </a:xfrm>
          <a:prstGeom prst="rect">
            <a:avLst/>
          </a:prstGeom>
          <a:solidFill>
            <a:srgbClr val="1A1A2A"/>
          </a:solidFill>
          <a:ln w="508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764792" y="2505456"/>
            <a:ext cx="43342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EEEEE"/>
                </a:solidFill>
              </a:rPr>
              <a:t>Simply supported portal — lateral load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126480" y="2496312"/>
            <a:ext cx="3172968" cy="256032"/>
          </a:xfrm>
          <a:prstGeom prst="rect">
            <a:avLst/>
          </a:prstGeom>
          <a:solidFill>
            <a:srgbClr val="1A1A2A"/>
          </a:solidFill>
          <a:ln w="508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153912" y="2505456"/>
            <a:ext cx="31455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EEEEE"/>
                </a:solidFill>
              </a:rPr>
              <a:t>OpenSeesPy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326880" y="2496312"/>
            <a:ext cx="1344168" cy="256032"/>
          </a:xfrm>
          <a:prstGeom prst="rect">
            <a:avLst/>
          </a:prstGeom>
          <a:solidFill>
            <a:srgbClr val="1A1A2A"/>
          </a:solidFill>
          <a:ln w="508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354312" y="2505456"/>
            <a:ext cx="13167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3A047"/>
                </a:solidFill>
              </a:rPr>
              <a:t>0.00%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74320" y="2752344"/>
            <a:ext cx="521207" cy="256032"/>
          </a:xfrm>
          <a:prstGeom prst="rect">
            <a:avLst/>
          </a:prstGeom>
          <a:solidFill>
            <a:srgbClr val="222235"/>
          </a:solidFill>
          <a:ln w="508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01752" y="2761488"/>
            <a:ext cx="4937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ACC1"/>
                </a:solidFill>
              </a:rPr>
              <a:t>F2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22960" y="2752344"/>
            <a:ext cx="886968" cy="256032"/>
          </a:xfrm>
          <a:prstGeom prst="rect">
            <a:avLst/>
          </a:prstGeom>
          <a:solidFill>
            <a:srgbClr val="222235"/>
          </a:solidFill>
          <a:ln w="508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50392" y="2761488"/>
            <a:ext cx="8595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EEEEE"/>
                </a:solidFill>
              </a:rPr>
              <a:t>Frame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737360" y="2752344"/>
            <a:ext cx="4361688" cy="256032"/>
          </a:xfrm>
          <a:prstGeom prst="rect">
            <a:avLst/>
          </a:prstGeom>
          <a:solidFill>
            <a:srgbClr val="222235"/>
          </a:solidFill>
          <a:ln w="508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764792" y="2761488"/>
            <a:ext cx="43342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EEEEE"/>
                </a:solidFill>
              </a:rPr>
              <a:t>Fixed-base portal — UDL on beam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126480" y="2752344"/>
            <a:ext cx="3172968" cy="256032"/>
          </a:xfrm>
          <a:prstGeom prst="rect">
            <a:avLst/>
          </a:prstGeom>
          <a:solidFill>
            <a:srgbClr val="222235"/>
          </a:solidFill>
          <a:ln w="508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153912" y="2761488"/>
            <a:ext cx="31455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EEEEE"/>
                </a:solidFill>
              </a:rPr>
              <a:t>OpenSeesPy</a:t>
            </a:r>
          </a:p>
        </p:txBody>
      </p:sp>
      <p:sp>
        <p:nvSpPr>
          <p:cNvPr id="86" name="Rectangle 85"/>
          <p:cNvSpPr/>
          <p:nvPr/>
        </p:nvSpPr>
        <p:spPr>
          <a:xfrm>
            <a:off x="9326880" y="2752344"/>
            <a:ext cx="1344168" cy="256032"/>
          </a:xfrm>
          <a:prstGeom prst="rect">
            <a:avLst/>
          </a:prstGeom>
          <a:solidFill>
            <a:srgbClr val="222235"/>
          </a:solidFill>
          <a:ln w="508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9354312" y="2761488"/>
            <a:ext cx="13167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3A047"/>
                </a:solidFill>
              </a:rPr>
              <a:t>0.00%</a:t>
            </a:r>
          </a:p>
        </p:txBody>
      </p:sp>
      <p:sp>
        <p:nvSpPr>
          <p:cNvPr id="88" name="Rectangle 87"/>
          <p:cNvSpPr/>
          <p:nvPr/>
        </p:nvSpPr>
        <p:spPr>
          <a:xfrm>
            <a:off x="274320" y="3008376"/>
            <a:ext cx="521207" cy="256032"/>
          </a:xfrm>
          <a:prstGeom prst="rect">
            <a:avLst/>
          </a:prstGeom>
          <a:solidFill>
            <a:srgbClr val="1A1A2A"/>
          </a:solidFill>
          <a:ln w="508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301752" y="3017520"/>
            <a:ext cx="4937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ACC1"/>
                </a:solidFill>
              </a:rPr>
              <a:t>F3</a:t>
            </a:r>
          </a:p>
        </p:txBody>
      </p:sp>
      <p:sp>
        <p:nvSpPr>
          <p:cNvPr id="90" name="Rectangle 89"/>
          <p:cNvSpPr/>
          <p:nvPr/>
        </p:nvSpPr>
        <p:spPr>
          <a:xfrm>
            <a:off x="822960" y="3008376"/>
            <a:ext cx="886968" cy="256032"/>
          </a:xfrm>
          <a:prstGeom prst="rect">
            <a:avLst/>
          </a:prstGeom>
          <a:solidFill>
            <a:srgbClr val="1A1A2A"/>
          </a:solidFill>
          <a:ln w="508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50392" y="3017520"/>
            <a:ext cx="8595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EEEEE"/>
                </a:solidFill>
              </a:rPr>
              <a:t>Frame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737360" y="3008376"/>
            <a:ext cx="4361688" cy="256032"/>
          </a:xfrm>
          <a:prstGeom prst="rect">
            <a:avLst/>
          </a:prstGeom>
          <a:solidFill>
            <a:srgbClr val="1A1A2A"/>
          </a:solidFill>
          <a:ln w="508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764792" y="3017520"/>
            <a:ext cx="43342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EEEEE"/>
                </a:solidFill>
              </a:rPr>
              <a:t>Multi-storey frame — vertical + lateral loads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126480" y="3008376"/>
            <a:ext cx="3172968" cy="256032"/>
          </a:xfrm>
          <a:prstGeom prst="rect">
            <a:avLst/>
          </a:prstGeom>
          <a:solidFill>
            <a:srgbClr val="1A1A2A"/>
          </a:solidFill>
          <a:ln w="508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153912" y="3017520"/>
            <a:ext cx="31455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EEEEE"/>
                </a:solidFill>
              </a:rPr>
              <a:t>OpenSeesPy</a:t>
            </a:r>
          </a:p>
        </p:txBody>
      </p:sp>
      <p:sp>
        <p:nvSpPr>
          <p:cNvPr id="96" name="Rectangle 95"/>
          <p:cNvSpPr/>
          <p:nvPr/>
        </p:nvSpPr>
        <p:spPr>
          <a:xfrm>
            <a:off x="9326880" y="3008376"/>
            <a:ext cx="1344168" cy="256032"/>
          </a:xfrm>
          <a:prstGeom prst="rect">
            <a:avLst/>
          </a:prstGeom>
          <a:solidFill>
            <a:srgbClr val="1A1A2A"/>
          </a:solidFill>
          <a:ln w="508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9354312" y="3017520"/>
            <a:ext cx="13167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3A047"/>
                </a:solidFill>
              </a:rPr>
              <a:t>0.00%</a:t>
            </a:r>
          </a:p>
        </p:txBody>
      </p:sp>
      <p:sp>
        <p:nvSpPr>
          <p:cNvPr id="98" name="Rectangle 97"/>
          <p:cNvSpPr/>
          <p:nvPr/>
        </p:nvSpPr>
        <p:spPr>
          <a:xfrm>
            <a:off x="274320" y="3264408"/>
            <a:ext cx="521207" cy="256032"/>
          </a:xfrm>
          <a:prstGeom prst="rect">
            <a:avLst/>
          </a:prstGeom>
          <a:solidFill>
            <a:srgbClr val="222235"/>
          </a:solidFill>
          <a:ln w="508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301752" y="3273552"/>
            <a:ext cx="4937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ACC1"/>
                </a:solidFill>
              </a:rPr>
              <a:t>F4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822960" y="3264408"/>
            <a:ext cx="886968" cy="256032"/>
          </a:xfrm>
          <a:prstGeom prst="rect">
            <a:avLst/>
          </a:prstGeom>
          <a:solidFill>
            <a:srgbClr val="222235"/>
          </a:solidFill>
          <a:ln w="508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850392" y="3273552"/>
            <a:ext cx="8595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EEEEE"/>
                </a:solidFill>
              </a:rPr>
              <a:t>Frame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737360" y="3264408"/>
            <a:ext cx="4361688" cy="256032"/>
          </a:xfrm>
          <a:prstGeom prst="rect">
            <a:avLst/>
          </a:prstGeom>
          <a:solidFill>
            <a:srgbClr val="222235"/>
          </a:solidFill>
          <a:ln w="508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1764792" y="3273552"/>
            <a:ext cx="43342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EEEEE"/>
                </a:solidFill>
              </a:rPr>
              <a:t>Two-bay frame — asymmetric loading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126480" y="3264408"/>
            <a:ext cx="3172968" cy="256032"/>
          </a:xfrm>
          <a:prstGeom prst="rect">
            <a:avLst/>
          </a:prstGeom>
          <a:solidFill>
            <a:srgbClr val="222235"/>
          </a:solidFill>
          <a:ln w="508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153912" y="3273552"/>
            <a:ext cx="31455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EEEEE"/>
                </a:solidFill>
              </a:rPr>
              <a:t>OpenSeesPy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9326880" y="3264408"/>
            <a:ext cx="1344168" cy="256032"/>
          </a:xfrm>
          <a:prstGeom prst="rect">
            <a:avLst/>
          </a:prstGeom>
          <a:solidFill>
            <a:srgbClr val="222235"/>
          </a:solidFill>
          <a:ln w="508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9354312" y="3273552"/>
            <a:ext cx="13167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3A047"/>
                </a:solidFill>
              </a:rPr>
              <a:t>0.00%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274320" y="3520440"/>
            <a:ext cx="521207" cy="256032"/>
          </a:xfrm>
          <a:prstGeom prst="rect">
            <a:avLst/>
          </a:prstGeom>
          <a:solidFill>
            <a:srgbClr val="1A1A2A"/>
          </a:solidFill>
          <a:ln w="508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301752" y="3529584"/>
            <a:ext cx="4937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ACC1"/>
                </a:solidFill>
              </a:rPr>
              <a:t>F5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822960" y="3520440"/>
            <a:ext cx="886968" cy="256032"/>
          </a:xfrm>
          <a:prstGeom prst="rect">
            <a:avLst/>
          </a:prstGeom>
          <a:solidFill>
            <a:srgbClr val="1A1A2A"/>
          </a:solidFill>
          <a:ln w="508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850392" y="3529584"/>
            <a:ext cx="8595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EEEEE"/>
                </a:solidFill>
              </a:rPr>
              <a:t>Frame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1737360" y="3520440"/>
            <a:ext cx="4361688" cy="256032"/>
          </a:xfrm>
          <a:prstGeom prst="rect">
            <a:avLst/>
          </a:prstGeom>
          <a:solidFill>
            <a:srgbClr val="1A1A2A"/>
          </a:solidFill>
          <a:ln w="508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1764792" y="3529584"/>
            <a:ext cx="43342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EEEEE"/>
                </a:solidFill>
              </a:rPr>
              <a:t>Pitched roof portal with eaves haunches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6126480" y="3520440"/>
            <a:ext cx="3172968" cy="256032"/>
          </a:xfrm>
          <a:prstGeom prst="rect">
            <a:avLst/>
          </a:prstGeom>
          <a:solidFill>
            <a:srgbClr val="1A1A2A"/>
          </a:solidFill>
          <a:ln w="508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6153912" y="3529584"/>
            <a:ext cx="31455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EEEEE"/>
                </a:solidFill>
              </a:rPr>
              <a:t>OpenSeesPy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9326880" y="3520440"/>
            <a:ext cx="1344168" cy="256032"/>
          </a:xfrm>
          <a:prstGeom prst="rect">
            <a:avLst/>
          </a:prstGeom>
          <a:solidFill>
            <a:srgbClr val="1A1A2A"/>
          </a:solidFill>
          <a:ln w="508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9354312" y="3529584"/>
            <a:ext cx="13167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3A047"/>
                </a:solidFill>
              </a:rPr>
              <a:t>0.00%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274320" y="3776472"/>
            <a:ext cx="521207" cy="256032"/>
          </a:xfrm>
          <a:prstGeom prst="rect">
            <a:avLst/>
          </a:prstGeom>
          <a:solidFill>
            <a:srgbClr val="222235"/>
          </a:solidFill>
          <a:ln w="508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301752" y="3785616"/>
            <a:ext cx="4937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ACC1"/>
                </a:solidFill>
              </a:rPr>
              <a:t>T1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822960" y="3776472"/>
            <a:ext cx="886968" cy="256032"/>
          </a:xfrm>
          <a:prstGeom prst="rect">
            <a:avLst/>
          </a:prstGeom>
          <a:solidFill>
            <a:srgbClr val="222235"/>
          </a:solidFill>
          <a:ln w="508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850392" y="3785616"/>
            <a:ext cx="8595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EEEEE"/>
                </a:solidFill>
              </a:rPr>
              <a:t>Truss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1737360" y="3776472"/>
            <a:ext cx="4361688" cy="256032"/>
          </a:xfrm>
          <a:prstGeom prst="rect">
            <a:avLst/>
          </a:prstGeom>
          <a:solidFill>
            <a:srgbClr val="222235"/>
          </a:solidFill>
          <a:ln w="508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1764792" y="3785616"/>
            <a:ext cx="43342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EEEEE"/>
                </a:solidFill>
              </a:rPr>
              <a:t>8-panel Pratt truss — symmetric UDL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6126480" y="3776472"/>
            <a:ext cx="3172968" cy="256032"/>
          </a:xfrm>
          <a:prstGeom prst="rect">
            <a:avLst/>
          </a:prstGeom>
          <a:solidFill>
            <a:srgbClr val="222235"/>
          </a:solidFill>
          <a:ln w="508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6153912" y="3785616"/>
            <a:ext cx="31455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EEEEE"/>
                </a:solidFill>
              </a:rPr>
              <a:t>Method of joints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9326880" y="3776472"/>
            <a:ext cx="1344168" cy="256032"/>
          </a:xfrm>
          <a:prstGeom prst="rect">
            <a:avLst/>
          </a:prstGeom>
          <a:solidFill>
            <a:srgbClr val="222235"/>
          </a:solidFill>
          <a:ln w="508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9354312" y="3785616"/>
            <a:ext cx="13167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3A047"/>
                </a:solidFill>
              </a:rPr>
              <a:t>0.00%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274320" y="4032504"/>
            <a:ext cx="521207" cy="256032"/>
          </a:xfrm>
          <a:prstGeom prst="rect">
            <a:avLst/>
          </a:prstGeom>
          <a:solidFill>
            <a:srgbClr val="1A1A2A"/>
          </a:solidFill>
          <a:ln w="508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301752" y="4041648"/>
            <a:ext cx="4937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ACC1"/>
                </a:solidFill>
              </a:rPr>
              <a:t>T2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822960" y="4032504"/>
            <a:ext cx="886968" cy="256032"/>
          </a:xfrm>
          <a:prstGeom prst="rect">
            <a:avLst/>
          </a:prstGeom>
          <a:solidFill>
            <a:srgbClr val="1A1A2A"/>
          </a:solidFill>
          <a:ln w="508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850392" y="4041648"/>
            <a:ext cx="8595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EEEEE"/>
                </a:solidFill>
              </a:rPr>
              <a:t>Truss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1737360" y="4032504"/>
            <a:ext cx="4361688" cy="256032"/>
          </a:xfrm>
          <a:prstGeom prst="rect">
            <a:avLst/>
          </a:prstGeom>
          <a:solidFill>
            <a:srgbClr val="1A1A2A"/>
          </a:solidFill>
          <a:ln w="508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1764792" y="4041648"/>
            <a:ext cx="43342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EEEEE"/>
                </a:solidFill>
              </a:rPr>
              <a:t>Warren truss — asymmetric point loads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6126480" y="4032504"/>
            <a:ext cx="3172968" cy="256032"/>
          </a:xfrm>
          <a:prstGeom prst="rect">
            <a:avLst/>
          </a:prstGeom>
          <a:solidFill>
            <a:srgbClr val="1A1A2A"/>
          </a:solidFill>
          <a:ln w="508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6153912" y="4041648"/>
            <a:ext cx="31455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EEEEE"/>
                </a:solidFill>
              </a:rPr>
              <a:t>Method of joints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9326880" y="4032504"/>
            <a:ext cx="1344168" cy="256032"/>
          </a:xfrm>
          <a:prstGeom prst="rect">
            <a:avLst/>
          </a:prstGeom>
          <a:solidFill>
            <a:srgbClr val="1A1A2A"/>
          </a:solidFill>
          <a:ln w="508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9354312" y="4041648"/>
            <a:ext cx="13167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3A047"/>
                </a:solidFill>
              </a:rPr>
              <a:t>0.00%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274320" y="4288536"/>
            <a:ext cx="521207" cy="256032"/>
          </a:xfrm>
          <a:prstGeom prst="rect">
            <a:avLst/>
          </a:prstGeom>
          <a:solidFill>
            <a:srgbClr val="222235"/>
          </a:solidFill>
          <a:ln w="508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301752" y="4297680"/>
            <a:ext cx="4937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ACC1"/>
                </a:solidFill>
              </a:rPr>
              <a:t>3D1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822960" y="4288536"/>
            <a:ext cx="886968" cy="256032"/>
          </a:xfrm>
          <a:prstGeom prst="rect">
            <a:avLst/>
          </a:prstGeom>
          <a:solidFill>
            <a:srgbClr val="222235"/>
          </a:solidFill>
          <a:ln w="508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850392" y="4297680"/>
            <a:ext cx="8595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7C00"/>
                </a:solidFill>
              </a:rPr>
              <a:t>3D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1737360" y="4288536"/>
            <a:ext cx="4361688" cy="256032"/>
          </a:xfrm>
          <a:prstGeom prst="rect">
            <a:avLst/>
          </a:prstGeom>
          <a:solidFill>
            <a:srgbClr val="222235"/>
          </a:solidFill>
          <a:ln w="508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1764792" y="4297680"/>
            <a:ext cx="43342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7C00"/>
                </a:solidFill>
              </a:rPr>
              <a:t>3D cantilever — tip load in Y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6126480" y="4288536"/>
            <a:ext cx="3172968" cy="256032"/>
          </a:xfrm>
          <a:prstGeom prst="rect">
            <a:avLst/>
          </a:prstGeom>
          <a:solidFill>
            <a:srgbClr val="222235"/>
          </a:solidFill>
          <a:ln w="508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6153912" y="4297680"/>
            <a:ext cx="31455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7C00"/>
                </a:solidFill>
              </a:rPr>
              <a:t>Analytical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9326880" y="4288536"/>
            <a:ext cx="1344168" cy="256032"/>
          </a:xfrm>
          <a:prstGeom prst="rect">
            <a:avLst/>
          </a:prstGeom>
          <a:solidFill>
            <a:srgbClr val="222235"/>
          </a:solidFill>
          <a:ln w="508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9354312" y="4297680"/>
            <a:ext cx="13167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3A047"/>
                </a:solidFill>
              </a:rPr>
              <a:t>0.00%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274320" y="4544568"/>
            <a:ext cx="521207" cy="256032"/>
          </a:xfrm>
          <a:prstGeom prst="rect">
            <a:avLst/>
          </a:prstGeom>
          <a:solidFill>
            <a:srgbClr val="1A1A2A"/>
          </a:solidFill>
          <a:ln w="508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301752" y="4553712"/>
            <a:ext cx="4937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ACC1"/>
                </a:solidFill>
              </a:rPr>
              <a:t>3D2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822960" y="4544568"/>
            <a:ext cx="886968" cy="256032"/>
          </a:xfrm>
          <a:prstGeom prst="rect">
            <a:avLst/>
          </a:prstGeom>
          <a:solidFill>
            <a:srgbClr val="1A1A2A"/>
          </a:solidFill>
          <a:ln w="508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850392" y="4553712"/>
            <a:ext cx="8595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7C00"/>
                </a:solidFill>
              </a:rPr>
              <a:t>3D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1737360" y="4544568"/>
            <a:ext cx="4361688" cy="256032"/>
          </a:xfrm>
          <a:prstGeom prst="rect">
            <a:avLst/>
          </a:prstGeom>
          <a:solidFill>
            <a:srgbClr val="1A1A2A"/>
          </a:solidFill>
          <a:ln w="508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1764792" y="4553712"/>
            <a:ext cx="43342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7C00"/>
                </a:solidFill>
              </a:rPr>
              <a:t>3D cantilever — tip load in Z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6126480" y="4544568"/>
            <a:ext cx="3172968" cy="256032"/>
          </a:xfrm>
          <a:prstGeom prst="rect">
            <a:avLst/>
          </a:prstGeom>
          <a:solidFill>
            <a:srgbClr val="1A1A2A"/>
          </a:solidFill>
          <a:ln w="508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6153912" y="4553712"/>
            <a:ext cx="31455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7C00"/>
                </a:solidFill>
              </a:rPr>
              <a:t>Analytical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9326880" y="4544568"/>
            <a:ext cx="1344168" cy="256032"/>
          </a:xfrm>
          <a:prstGeom prst="rect">
            <a:avLst/>
          </a:prstGeom>
          <a:solidFill>
            <a:srgbClr val="1A1A2A"/>
          </a:solidFill>
          <a:ln w="508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9354312" y="4553712"/>
            <a:ext cx="13167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3A047"/>
                </a:solidFill>
              </a:rPr>
              <a:t>0.00%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274320" y="4800600"/>
            <a:ext cx="521207" cy="256032"/>
          </a:xfrm>
          <a:prstGeom prst="rect">
            <a:avLst/>
          </a:prstGeom>
          <a:solidFill>
            <a:srgbClr val="222235"/>
          </a:solidFill>
          <a:ln w="508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301752" y="4809744"/>
            <a:ext cx="4937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ACC1"/>
                </a:solidFill>
              </a:rPr>
              <a:t>3D3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822960" y="4800600"/>
            <a:ext cx="886968" cy="256032"/>
          </a:xfrm>
          <a:prstGeom prst="rect">
            <a:avLst/>
          </a:prstGeom>
          <a:solidFill>
            <a:srgbClr val="222235"/>
          </a:solidFill>
          <a:ln w="508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850392" y="4809744"/>
            <a:ext cx="8595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7C00"/>
                </a:solidFill>
              </a:rPr>
              <a:t>3D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1737360" y="4800600"/>
            <a:ext cx="4361688" cy="256032"/>
          </a:xfrm>
          <a:prstGeom prst="rect">
            <a:avLst/>
          </a:prstGeom>
          <a:solidFill>
            <a:srgbClr val="222235"/>
          </a:solidFill>
          <a:ln w="508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1764792" y="4809744"/>
            <a:ext cx="43342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7C00"/>
                </a:solidFill>
              </a:rPr>
              <a:t>3D simply supported beam — midspan load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6126480" y="4800600"/>
            <a:ext cx="3172968" cy="256032"/>
          </a:xfrm>
          <a:prstGeom prst="rect">
            <a:avLst/>
          </a:prstGeom>
          <a:solidFill>
            <a:srgbClr val="222235"/>
          </a:solidFill>
          <a:ln w="508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6153912" y="4809744"/>
            <a:ext cx="31455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7C00"/>
                </a:solidFill>
              </a:rPr>
              <a:t>Analytical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9326880" y="4800600"/>
            <a:ext cx="1344168" cy="256032"/>
          </a:xfrm>
          <a:prstGeom prst="rect">
            <a:avLst/>
          </a:prstGeom>
          <a:solidFill>
            <a:srgbClr val="222235"/>
          </a:solidFill>
          <a:ln w="508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9354312" y="4809744"/>
            <a:ext cx="13167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3A047"/>
                </a:solidFill>
              </a:rPr>
              <a:t>0.00%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274320" y="5056632"/>
            <a:ext cx="521207" cy="256032"/>
          </a:xfrm>
          <a:prstGeom prst="rect">
            <a:avLst/>
          </a:prstGeom>
          <a:solidFill>
            <a:srgbClr val="1A1A2A"/>
          </a:solidFill>
          <a:ln w="508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301752" y="5065776"/>
            <a:ext cx="4937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ACC1"/>
                </a:solidFill>
              </a:rPr>
              <a:t>3D4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822960" y="5056632"/>
            <a:ext cx="886968" cy="256032"/>
          </a:xfrm>
          <a:prstGeom prst="rect">
            <a:avLst/>
          </a:prstGeom>
          <a:solidFill>
            <a:srgbClr val="1A1A2A"/>
          </a:solidFill>
          <a:ln w="508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850392" y="5065776"/>
            <a:ext cx="8595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7C00"/>
                </a:solidFill>
              </a:rPr>
              <a:t>3D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1737360" y="5056632"/>
            <a:ext cx="4361688" cy="256032"/>
          </a:xfrm>
          <a:prstGeom prst="rect">
            <a:avLst/>
          </a:prstGeom>
          <a:solidFill>
            <a:srgbClr val="1A1A2A"/>
          </a:solidFill>
          <a:ln w="508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1764792" y="5065776"/>
            <a:ext cx="43342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7C00"/>
                </a:solidFill>
              </a:rPr>
              <a:t>3D portal frame — in-plane lateral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6126480" y="5056632"/>
            <a:ext cx="3172968" cy="256032"/>
          </a:xfrm>
          <a:prstGeom prst="rect">
            <a:avLst/>
          </a:prstGeom>
          <a:solidFill>
            <a:srgbClr val="1A1A2A"/>
          </a:solidFill>
          <a:ln w="508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6153912" y="5065776"/>
            <a:ext cx="31455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7C00"/>
                </a:solidFill>
              </a:rPr>
              <a:t>OpenSeesPy</a:t>
            </a:r>
          </a:p>
        </p:txBody>
      </p:sp>
      <p:sp>
        <p:nvSpPr>
          <p:cNvPr id="176" name="Rectangle 175"/>
          <p:cNvSpPr/>
          <p:nvPr/>
        </p:nvSpPr>
        <p:spPr>
          <a:xfrm>
            <a:off x="9326880" y="5056632"/>
            <a:ext cx="1344168" cy="256032"/>
          </a:xfrm>
          <a:prstGeom prst="rect">
            <a:avLst/>
          </a:prstGeom>
          <a:solidFill>
            <a:srgbClr val="1A1A2A"/>
          </a:solidFill>
          <a:ln w="508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9354312" y="5065776"/>
            <a:ext cx="13167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3A047"/>
                </a:solidFill>
              </a:rPr>
              <a:t>0.00%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274320" y="5312664"/>
            <a:ext cx="521207" cy="256032"/>
          </a:xfrm>
          <a:prstGeom prst="rect">
            <a:avLst/>
          </a:prstGeom>
          <a:solidFill>
            <a:srgbClr val="222235"/>
          </a:solidFill>
          <a:ln w="508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301752" y="5321808"/>
            <a:ext cx="4937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ACC1"/>
                </a:solidFill>
              </a:rPr>
              <a:t>3D5</a:t>
            </a:r>
          </a:p>
        </p:txBody>
      </p:sp>
      <p:sp>
        <p:nvSpPr>
          <p:cNvPr id="180" name="Rectangle 179"/>
          <p:cNvSpPr/>
          <p:nvPr/>
        </p:nvSpPr>
        <p:spPr>
          <a:xfrm>
            <a:off x="822960" y="5312664"/>
            <a:ext cx="886968" cy="256032"/>
          </a:xfrm>
          <a:prstGeom prst="rect">
            <a:avLst/>
          </a:prstGeom>
          <a:solidFill>
            <a:srgbClr val="222235"/>
          </a:solidFill>
          <a:ln w="508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850392" y="5321808"/>
            <a:ext cx="8595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7C00"/>
                </a:solidFill>
              </a:rPr>
              <a:t>3D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1737360" y="5312664"/>
            <a:ext cx="4361688" cy="256032"/>
          </a:xfrm>
          <a:prstGeom prst="rect">
            <a:avLst/>
          </a:prstGeom>
          <a:solidFill>
            <a:srgbClr val="222235"/>
          </a:solidFill>
          <a:ln w="508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TextBox 182"/>
          <p:cNvSpPr txBox="1"/>
          <p:nvPr/>
        </p:nvSpPr>
        <p:spPr>
          <a:xfrm>
            <a:off x="1764792" y="5321808"/>
            <a:ext cx="43342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7C00"/>
                </a:solidFill>
              </a:rPr>
              <a:t>3D portal frame — out-of-plane lateral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6126480" y="5312664"/>
            <a:ext cx="3172968" cy="256032"/>
          </a:xfrm>
          <a:prstGeom prst="rect">
            <a:avLst/>
          </a:prstGeom>
          <a:solidFill>
            <a:srgbClr val="222235"/>
          </a:solidFill>
          <a:ln w="508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6153912" y="5321808"/>
            <a:ext cx="31455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7C00"/>
                </a:solidFill>
              </a:rPr>
              <a:t>OpenSeesPy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9326880" y="5312664"/>
            <a:ext cx="1344168" cy="256032"/>
          </a:xfrm>
          <a:prstGeom prst="rect">
            <a:avLst/>
          </a:prstGeom>
          <a:solidFill>
            <a:srgbClr val="222235"/>
          </a:solidFill>
          <a:ln w="508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TextBox 186"/>
          <p:cNvSpPr txBox="1"/>
          <p:nvPr/>
        </p:nvSpPr>
        <p:spPr>
          <a:xfrm>
            <a:off x="9354312" y="5321808"/>
            <a:ext cx="13167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3A047"/>
                </a:solidFill>
              </a:rPr>
              <a:t>0.00%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274320" y="5568696"/>
            <a:ext cx="521207" cy="256032"/>
          </a:xfrm>
          <a:prstGeom prst="rect">
            <a:avLst/>
          </a:prstGeom>
          <a:solidFill>
            <a:srgbClr val="1A1A2A"/>
          </a:solidFill>
          <a:ln w="508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TextBox 188"/>
          <p:cNvSpPr txBox="1"/>
          <p:nvPr/>
        </p:nvSpPr>
        <p:spPr>
          <a:xfrm>
            <a:off x="301752" y="5577840"/>
            <a:ext cx="4937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ACC1"/>
                </a:solidFill>
              </a:rPr>
              <a:t>3D6</a:t>
            </a:r>
          </a:p>
        </p:txBody>
      </p:sp>
      <p:sp>
        <p:nvSpPr>
          <p:cNvPr id="190" name="Rectangle 189"/>
          <p:cNvSpPr/>
          <p:nvPr/>
        </p:nvSpPr>
        <p:spPr>
          <a:xfrm>
            <a:off x="822960" y="5568696"/>
            <a:ext cx="886968" cy="256032"/>
          </a:xfrm>
          <a:prstGeom prst="rect">
            <a:avLst/>
          </a:prstGeom>
          <a:solidFill>
            <a:srgbClr val="1A1A2A"/>
          </a:solidFill>
          <a:ln w="508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TextBox 190"/>
          <p:cNvSpPr txBox="1"/>
          <p:nvPr/>
        </p:nvSpPr>
        <p:spPr>
          <a:xfrm>
            <a:off x="850392" y="5577840"/>
            <a:ext cx="8595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7C00"/>
                </a:solidFill>
              </a:rPr>
              <a:t>3D</a:t>
            </a:r>
          </a:p>
        </p:txBody>
      </p:sp>
      <p:sp>
        <p:nvSpPr>
          <p:cNvPr id="192" name="Rectangle 191"/>
          <p:cNvSpPr/>
          <p:nvPr/>
        </p:nvSpPr>
        <p:spPr>
          <a:xfrm>
            <a:off x="1737360" y="5568696"/>
            <a:ext cx="4361688" cy="256032"/>
          </a:xfrm>
          <a:prstGeom prst="rect">
            <a:avLst/>
          </a:prstGeom>
          <a:solidFill>
            <a:srgbClr val="1A1A2A"/>
          </a:solidFill>
          <a:ln w="508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TextBox 192"/>
          <p:cNvSpPr txBox="1"/>
          <p:nvPr/>
        </p:nvSpPr>
        <p:spPr>
          <a:xfrm>
            <a:off x="1764792" y="5577840"/>
            <a:ext cx="43342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7C00"/>
                </a:solidFill>
              </a:rPr>
              <a:t>3D 2-storey space frame — combined loads</a:t>
            </a:r>
          </a:p>
        </p:txBody>
      </p:sp>
      <p:sp>
        <p:nvSpPr>
          <p:cNvPr id="194" name="Rectangle 193"/>
          <p:cNvSpPr/>
          <p:nvPr/>
        </p:nvSpPr>
        <p:spPr>
          <a:xfrm>
            <a:off x="6126480" y="5568696"/>
            <a:ext cx="3172968" cy="256032"/>
          </a:xfrm>
          <a:prstGeom prst="rect">
            <a:avLst/>
          </a:prstGeom>
          <a:solidFill>
            <a:srgbClr val="1A1A2A"/>
          </a:solidFill>
          <a:ln w="508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TextBox 194"/>
          <p:cNvSpPr txBox="1"/>
          <p:nvPr/>
        </p:nvSpPr>
        <p:spPr>
          <a:xfrm>
            <a:off x="6153912" y="5577840"/>
            <a:ext cx="31455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7C00"/>
                </a:solidFill>
              </a:rPr>
              <a:t>OpenSeesPy</a:t>
            </a:r>
          </a:p>
        </p:txBody>
      </p:sp>
      <p:sp>
        <p:nvSpPr>
          <p:cNvPr id="196" name="Rectangle 195"/>
          <p:cNvSpPr/>
          <p:nvPr/>
        </p:nvSpPr>
        <p:spPr>
          <a:xfrm>
            <a:off x="9326880" y="5568696"/>
            <a:ext cx="1344168" cy="256032"/>
          </a:xfrm>
          <a:prstGeom prst="rect">
            <a:avLst/>
          </a:prstGeom>
          <a:solidFill>
            <a:srgbClr val="1A1A2A"/>
          </a:solidFill>
          <a:ln w="508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TextBox 196"/>
          <p:cNvSpPr txBox="1"/>
          <p:nvPr/>
        </p:nvSpPr>
        <p:spPr>
          <a:xfrm>
            <a:off x="9354312" y="5577840"/>
            <a:ext cx="13167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3A047"/>
                </a:solidFill>
              </a:rPr>
              <a:t>0.00%</a:t>
            </a:r>
          </a:p>
        </p:txBody>
      </p:sp>
      <p:sp>
        <p:nvSpPr>
          <p:cNvPr id="198" name="Rectangle 197"/>
          <p:cNvSpPr/>
          <p:nvPr/>
        </p:nvSpPr>
        <p:spPr>
          <a:xfrm>
            <a:off x="274320" y="5824728"/>
            <a:ext cx="521207" cy="256032"/>
          </a:xfrm>
          <a:prstGeom prst="rect">
            <a:avLst/>
          </a:prstGeom>
          <a:solidFill>
            <a:srgbClr val="222235"/>
          </a:solidFill>
          <a:ln w="508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TextBox 198"/>
          <p:cNvSpPr txBox="1"/>
          <p:nvPr/>
        </p:nvSpPr>
        <p:spPr>
          <a:xfrm>
            <a:off x="301752" y="5833872"/>
            <a:ext cx="4937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ACC1"/>
                </a:solidFill>
              </a:rPr>
              <a:t>3D7</a:t>
            </a:r>
          </a:p>
        </p:txBody>
      </p:sp>
      <p:sp>
        <p:nvSpPr>
          <p:cNvPr id="200" name="Rectangle 199"/>
          <p:cNvSpPr/>
          <p:nvPr/>
        </p:nvSpPr>
        <p:spPr>
          <a:xfrm>
            <a:off x="822960" y="5824728"/>
            <a:ext cx="886968" cy="256032"/>
          </a:xfrm>
          <a:prstGeom prst="rect">
            <a:avLst/>
          </a:prstGeom>
          <a:solidFill>
            <a:srgbClr val="222235"/>
          </a:solidFill>
          <a:ln w="508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TextBox 200"/>
          <p:cNvSpPr txBox="1"/>
          <p:nvPr/>
        </p:nvSpPr>
        <p:spPr>
          <a:xfrm>
            <a:off x="850392" y="5833872"/>
            <a:ext cx="8595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7C00"/>
                </a:solidFill>
              </a:rPr>
              <a:t>3D</a:t>
            </a:r>
          </a:p>
        </p:txBody>
      </p:sp>
      <p:sp>
        <p:nvSpPr>
          <p:cNvPr id="202" name="Rectangle 201"/>
          <p:cNvSpPr/>
          <p:nvPr/>
        </p:nvSpPr>
        <p:spPr>
          <a:xfrm>
            <a:off x="1737360" y="5824728"/>
            <a:ext cx="4361688" cy="256032"/>
          </a:xfrm>
          <a:prstGeom prst="rect">
            <a:avLst/>
          </a:prstGeom>
          <a:solidFill>
            <a:srgbClr val="222235"/>
          </a:solidFill>
          <a:ln w="508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TextBox 202"/>
          <p:cNvSpPr txBox="1"/>
          <p:nvPr/>
        </p:nvSpPr>
        <p:spPr>
          <a:xfrm>
            <a:off x="1764792" y="5833872"/>
            <a:ext cx="43342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7C00"/>
                </a:solidFill>
              </a:rPr>
              <a:t>3D floor grid — biaxial bending</a:t>
            </a:r>
          </a:p>
        </p:txBody>
      </p:sp>
      <p:sp>
        <p:nvSpPr>
          <p:cNvPr id="204" name="Rectangle 203"/>
          <p:cNvSpPr/>
          <p:nvPr/>
        </p:nvSpPr>
        <p:spPr>
          <a:xfrm>
            <a:off x="6126480" y="5824728"/>
            <a:ext cx="3172968" cy="256032"/>
          </a:xfrm>
          <a:prstGeom prst="rect">
            <a:avLst/>
          </a:prstGeom>
          <a:solidFill>
            <a:srgbClr val="222235"/>
          </a:solidFill>
          <a:ln w="508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TextBox 204"/>
          <p:cNvSpPr txBox="1"/>
          <p:nvPr/>
        </p:nvSpPr>
        <p:spPr>
          <a:xfrm>
            <a:off x="6153912" y="5833872"/>
            <a:ext cx="31455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7C00"/>
                </a:solidFill>
              </a:rPr>
              <a:t>OpenSeesPy</a:t>
            </a:r>
          </a:p>
        </p:txBody>
      </p:sp>
      <p:sp>
        <p:nvSpPr>
          <p:cNvPr id="206" name="Rectangle 205"/>
          <p:cNvSpPr/>
          <p:nvPr/>
        </p:nvSpPr>
        <p:spPr>
          <a:xfrm>
            <a:off x="9326880" y="5824728"/>
            <a:ext cx="1344168" cy="256032"/>
          </a:xfrm>
          <a:prstGeom prst="rect">
            <a:avLst/>
          </a:prstGeom>
          <a:solidFill>
            <a:srgbClr val="222235"/>
          </a:solidFill>
          <a:ln w="508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TextBox 206"/>
          <p:cNvSpPr txBox="1"/>
          <p:nvPr/>
        </p:nvSpPr>
        <p:spPr>
          <a:xfrm>
            <a:off x="9354312" y="5833872"/>
            <a:ext cx="13167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3A047"/>
                </a:solidFill>
              </a:rPr>
              <a:t>0.00%</a:t>
            </a:r>
          </a:p>
        </p:txBody>
      </p:sp>
      <p:sp>
        <p:nvSpPr>
          <p:cNvPr id="208" name="Rectangle 207"/>
          <p:cNvSpPr/>
          <p:nvPr/>
        </p:nvSpPr>
        <p:spPr>
          <a:xfrm>
            <a:off x="274320" y="6080760"/>
            <a:ext cx="521207" cy="256032"/>
          </a:xfrm>
          <a:prstGeom prst="rect">
            <a:avLst/>
          </a:prstGeom>
          <a:solidFill>
            <a:srgbClr val="1A1A2A"/>
          </a:solidFill>
          <a:ln w="508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TextBox 208"/>
          <p:cNvSpPr txBox="1"/>
          <p:nvPr/>
        </p:nvSpPr>
        <p:spPr>
          <a:xfrm>
            <a:off x="301752" y="6089904"/>
            <a:ext cx="4937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ACC1"/>
                </a:solidFill>
              </a:rPr>
              <a:t>3D8</a:t>
            </a:r>
          </a:p>
        </p:txBody>
      </p:sp>
      <p:sp>
        <p:nvSpPr>
          <p:cNvPr id="210" name="Rectangle 209"/>
          <p:cNvSpPr/>
          <p:nvPr/>
        </p:nvSpPr>
        <p:spPr>
          <a:xfrm>
            <a:off x="822960" y="6080760"/>
            <a:ext cx="886968" cy="256032"/>
          </a:xfrm>
          <a:prstGeom prst="rect">
            <a:avLst/>
          </a:prstGeom>
          <a:solidFill>
            <a:srgbClr val="1A1A2A"/>
          </a:solidFill>
          <a:ln w="508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TextBox 210"/>
          <p:cNvSpPr txBox="1"/>
          <p:nvPr/>
        </p:nvSpPr>
        <p:spPr>
          <a:xfrm>
            <a:off x="850392" y="6089904"/>
            <a:ext cx="8595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7C00"/>
                </a:solidFill>
              </a:rPr>
              <a:t>3D</a:t>
            </a:r>
          </a:p>
        </p:txBody>
      </p:sp>
      <p:sp>
        <p:nvSpPr>
          <p:cNvPr id="212" name="Rectangle 211"/>
          <p:cNvSpPr/>
          <p:nvPr/>
        </p:nvSpPr>
        <p:spPr>
          <a:xfrm>
            <a:off x="1737360" y="6080760"/>
            <a:ext cx="4361688" cy="256032"/>
          </a:xfrm>
          <a:prstGeom prst="rect">
            <a:avLst/>
          </a:prstGeom>
          <a:solidFill>
            <a:srgbClr val="1A1A2A"/>
          </a:solidFill>
          <a:ln w="508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TextBox 212"/>
          <p:cNvSpPr txBox="1"/>
          <p:nvPr/>
        </p:nvSpPr>
        <p:spPr>
          <a:xfrm>
            <a:off x="1764792" y="6089904"/>
            <a:ext cx="43342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7C00"/>
                </a:solidFill>
              </a:rPr>
              <a:t>3D Pratt roof truss — space truss</a:t>
            </a:r>
          </a:p>
        </p:txBody>
      </p:sp>
      <p:sp>
        <p:nvSpPr>
          <p:cNvPr id="214" name="Rectangle 213"/>
          <p:cNvSpPr/>
          <p:nvPr/>
        </p:nvSpPr>
        <p:spPr>
          <a:xfrm>
            <a:off x="6126480" y="6080760"/>
            <a:ext cx="3172968" cy="256032"/>
          </a:xfrm>
          <a:prstGeom prst="rect">
            <a:avLst/>
          </a:prstGeom>
          <a:solidFill>
            <a:srgbClr val="1A1A2A"/>
          </a:solidFill>
          <a:ln w="508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TextBox 214"/>
          <p:cNvSpPr txBox="1"/>
          <p:nvPr/>
        </p:nvSpPr>
        <p:spPr>
          <a:xfrm>
            <a:off x="6153912" y="6089904"/>
            <a:ext cx="31455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7C00"/>
                </a:solidFill>
              </a:rPr>
              <a:t>Analytical</a:t>
            </a:r>
          </a:p>
        </p:txBody>
      </p:sp>
      <p:sp>
        <p:nvSpPr>
          <p:cNvPr id="216" name="Rectangle 215"/>
          <p:cNvSpPr/>
          <p:nvPr/>
        </p:nvSpPr>
        <p:spPr>
          <a:xfrm>
            <a:off x="9326880" y="6080760"/>
            <a:ext cx="1344168" cy="256032"/>
          </a:xfrm>
          <a:prstGeom prst="rect">
            <a:avLst/>
          </a:prstGeom>
          <a:solidFill>
            <a:srgbClr val="1A1A2A"/>
          </a:solidFill>
          <a:ln w="508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TextBox 216"/>
          <p:cNvSpPr txBox="1"/>
          <p:nvPr/>
        </p:nvSpPr>
        <p:spPr>
          <a:xfrm>
            <a:off x="9354312" y="6089904"/>
            <a:ext cx="13167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3A047"/>
                </a:solidFill>
              </a:rPr>
              <a:t>0.00%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274320" y="649224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1">
                <a:solidFill>
                  <a:srgbClr val="43A047"/>
                </a:solidFill>
              </a:rPr>
              <a:t>All 20 cases: max displacement / reaction / moment error = 0.00% (tolerance &lt; 0.01%)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ACC1"/>
                </a:solidFill>
              </a:rPr>
              <a:t>V1.0 — Scope Boundaries (What This Release Does Not Do)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999AA"/>
                </a:solidFill>
              </a:rPr>
              <a:t>Honest positioning — this is a linear-static desktop tool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41248"/>
            <a:ext cx="11274552" cy="25400"/>
          </a:xfrm>
          <a:prstGeom prst="rect">
            <a:avLst/>
          </a:prstGeom>
          <a:solidFill>
            <a:srgbClr val="00A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875520" y="109728"/>
            <a:ext cx="2103120" cy="292608"/>
          </a:xfrm>
          <a:prstGeom prst="rect">
            <a:avLst/>
          </a:prstGeom>
          <a:solidFill>
            <a:srgbClr val="00A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21240" y="11887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A2A"/>
                </a:solidFill>
              </a:rPr>
              <a:t>Scope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999AA"/>
                </a:solidFill>
              </a:rPr>
              <a:t>12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005840"/>
            <a:ext cx="73152" cy="347472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024128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53935"/>
                </a:solidFill>
              </a:rPr>
              <a:t>Dynamic / Seismic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1024128"/>
            <a:ext cx="8595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EEEEE"/>
                </a:solidFill>
              </a:rPr>
              <a:t>No modal analysis, no response spectrum, no time-history integration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444752"/>
            <a:ext cx="73152" cy="347472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463040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53935"/>
                </a:solidFill>
              </a:rPr>
              <a:t>Nonlinear 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1463040"/>
            <a:ext cx="8595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EEEEE"/>
                </a:solidFill>
              </a:rPr>
              <a:t>No geometric nonlinearity (P-Δ / large displacement), no material plasticity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1883664"/>
            <a:ext cx="73152" cy="347472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1901952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53935"/>
                </a:solidFill>
              </a:rPr>
              <a:t>Plates &amp; Shells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1901952"/>
            <a:ext cx="8595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EEEEE"/>
                </a:solidFill>
              </a:rPr>
              <a:t>Frame elements only — no 2D/3D continuum mesh elements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322576"/>
            <a:ext cx="73152" cy="347472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2340864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7C00"/>
                </a:solidFill>
              </a:rPr>
              <a:t>Design Code Checks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2340864"/>
            <a:ext cx="8595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EEEEE"/>
                </a:solidFill>
              </a:rPr>
              <a:t>EC3 steel moment check (η = M_Ed/M_Rd) only — EC2 concrete check is a stub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761488"/>
            <a:ext cx="73152" cy="347472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2779776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7C00"/>
                </a:solidFill>
              </a:rPr>
              <a:t>Load Generation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2779776"/>
            <a:ext cx="8595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EEEEE"/>
                </a:solidFill>
              </a:rPr>
              <a:t>Loads are manual — no EN 1991 wind, snow, or seismic auto-generator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200400"/>
            <a:ext cx="73152" cy="347472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218688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7C00"/>
                </a:solidFill>
              </a:rPr>
              <a:t>Section Optimisation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3218688"/>
            <a:ext cx="8595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EEEEE"/>
                </a:solidFill>
              </a:rPr>
              <a:t>Checks utilisation but does not select or size sections automatically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639312"/>
            <a:ext cx="73152" cy="347472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3657600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7C00"/>
                </a:solidFill>
              </a:rPr>
              <a:t>IFC / DXF Exchange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3657600"/>
            <a:ext cx="8595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EEEEE"/>
                </a:solidFill>
              </a:rPr>
              <a:t>No import or export to BIM or CAD formats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4078224"/>
            <a:ext cx="73152" cy="347472"/>
          </a:xfrm>
          <a:prstGeom prst="rect">
            <a:avLst/>
          </a:prstGeom>
          <a:solidFill>
            <a:srgbClr val="999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4096512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999AA"/>
                </a:solidFill>
              </a:rPr>
              <a:t>Cloud / Multi-user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0" y="4096512"/>
            <a:ext cx="8595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EEEEE"/>
                </a:solidFill>
              </a:rPr>
              <a:t>Local desktop only — no collaboration or cloud-hosted solve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9224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999AA"/>
                </a:solidFill>
              </a:rPr>
              <a:t>Red = not in scope for V1.x   ·   Amber = partial or planned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ACC1"/>
                </a:solidFill>
              </a:rPr>
              <a:t>Roadmap &amp; Contributing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999AA"/>
                </a:solidFill>
              </a:rPr>
              <a:t>Open to contributions — GPL v3 licence on GitHub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41248"/>
            <a:ext cx="11274552" cy="25400"/>
          </a:xfrm>
          <a:prstGeom prst="rect">
            <a:avLst/>
          </a:prstGeom>
          <a:solidFill>
            <a:srgbClr val="00A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875520" y="109728"/>
            <a:ext cx="2103120" cy="292608"/>
          </a:xfrm>
          <a:prstGeom prst="rect">
            <a:avLst/>
          </a:prstGeom>
          <a:solidFill>
            <a:srgbClr val="00A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21240" y="11887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A2A"/>
                </a:solidFill>
              </a:rPr>
              <a:t>Roadmap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999AA"/>
                </a:solidFill>
              </a:rPr>
              <a:t>13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005840"/>
            <a:ext cx="1325880" cy="822960"/>
          </a:xfrm>
          <a:prstGeom prst="rect">
            <a:avLst/>
          </a:prstGeom>
          <a:solidFill>
            <a:srgbClr val="222235"/>
          </a:solidFill>
          <a:ln w="19050">
            <a:solidFill>
              <a:srgbClr val="00AC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1078992"/>
            <a:ext cx="1280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ACC1"/>
                </a:solidFill>
              </a:rPr>
              <a:t>Phase 10
(active)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1042416"/>
            <a:ext cx="9784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ACC1"/>
                </a:solidFill>
              </a:rPr>
              <a:t>3D modelling UX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1335024"/>
            <a:ext cx="9784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EEEEE"/>
                </a:solidFill>
              </a:rPr>
              <a:t>Blender-style orbit · axis-constrained grab (G+X/Y/Z) · E-extrude · numpad view recall · 3D grid visual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965960"/>
            <a:ext cx="1325880" cy="822960"/>
          </a:xfrm>
          <a:prstGeom prst="rect">
            <a:avLst/>
          </a:prstGeom>
          <a:solidFill>
            <a:srgbClr val="222235"/>
          </a:solidFill>
          <a:ln w="1905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" y="2039112"/>
            <a:ext cx="1280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57C00"/>
                </a:solidFill>
              </a:rPr>
              <a:t>Phase 11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2002536"/>
            <a:ext cx="9784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7C00"/>
                </a:solidFill>
              </a:rPr>
              <a:t>EC2 Concrete Design Check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2295144"/>
            <a:ext cx="9784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EEEEE"/>
                </a:solidFill>
              </a:rPr>
              <a:t>Steel / Concrete branch in Design tab · EC2 §6.1 rectangular stress block · user-input M_Rd for concrete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926080"/>
            <a:ext cx="1325880" cy="822960"/>
          </a:xfrm>
          <a:prstGeom prst="rect">
            <a:avLst/>
          </a:prstGeom>
          <a:solidFill>
            <a:srgbClr val="222235"/>
          </a:solidFill>
          <a:ln w="1905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4048" y="2999232"/>
            <a:ext cx="1280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3A047"/>
                </a:solidFill>
              </a:rPr>
              <a:t>Phase 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2962656"/>
            <a:ext cx="9784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3A047"/>
                </a:solidFill>
              </a:rPr>
              <a:t>OpenSees Export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4519" y="3255264"/>
            <a:ext cx="9784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EEEEE"/>
                </a:solidFill>
              </a:rPr>
              <a:t>One-click export of any StructLab model to a ready-to-run OpenSeesPy script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886200"/>
            <a:ext cx="1325880" cy="822960"/>
          </a:xfrm>
          <a:prstGeom prst="rect">
            <a:avLst/>
          </a:prstGeom>
          <a:solidFill>
            <a:srgbClr val="222235"/>
          </a:solidFill>
          <a:ln w="19050">
            <a:solidFill>
              <a:srgbClr val="999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4048" y="3959352"/>
            <a:ext cx="1280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9999AA"/>
                </a:solidFill>
              </a:rPr>
              <a:t>Future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74519" y="3922776"/>
            <a:ext cx="9784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999AA"/>
                </a:solidFill>
              </a:rPr>
              <a:t>Dynamic / Nonlinear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74519" y="4215384"/>
            <a:ext cx="9784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EEEEE"/>
                </a:solidFill>
              </a:rPr>
              <a:t>Modal analysis · response spectrum · P-Δ geometric nonlinearity · pushover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5074920"/>
            <a:ext cx="11274552" cy="1417320"/>
          </a:xfrm>
          <a:prstGeom prst="rect">
            <a:avLst/>
          </a:prstGeom>
          <a:solidFill>
            <a:srgbClr val="222235"/>
          </a:solidFill>
          <a:ln w="15240">
            <a:solidFill>
              <a:srgbClr val="00AC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516636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300" b="1" i="0">
                <a:solidFill>
                  <a:srgbClr val="00ACC1"/>
                </a:solidFill>
              </a:rPr>
              <a:t>How to contribute:</a:t>
            </a:r>
          </a:p>
          <a:p>
            <a:pPr algn="l">
              <a:spcBef>
                <a:spcPts val="300"/>
              </a:spcBef>
            </a:pPr>
            <a:r>
              <a:rPr sz="1200" b="0" i="0">
                <a:solidFill>
                  <a:srgbClr val="EEEEEE"/>
                </a:solidFill>
              </a:rPr>
              <a:t>▸  Report bugs or request features via GitHub Issues</a:t>
            </a:r>
          </a:p>
          <a:p>
            <a:pPr algn="l">
              <a:spcBef>
                <a:spcPts val="300"/>
              </a:spcBef>
            </a:pPr>
            <a:r>
              <a:rPr sz="1200" b="0" i="0">
                <a:solidFill>
                  <a:srgbClr val="EEEEEE"/>
                </a:solidFill>
              </a:rPr>
              <a:t>▸  Add benchmark cases — any textbook example with a known analytical solution</a:t>
            </a:r>
          </a:p>
          <a:p>
            <a:pPr algn="l">
              <a:spcBef>
                <a:spcPts val="300"/>
              </a:spcBef>
            </a:pPr>
            <a:r>
              <a:rPr sz="1200" b="0" i="0">
                <a:solidFill>
                  <a:srgbClr val="EEEEEE"/>
                </a:solidFill>
              </a:rPr>
              <a:t>▸  Extend the SDK — new load types, result queries, export formats</a:t>
            </a:r>
          </a:p>
          <a:p>
            <a:pPr algn="l">
              <a:spcBef>
                <a:spcPts val="300"/>
              </a:spcBef>
            </a:pPr>
            <a:r>
              <a:rPr sz="1200" b="0" i="0">
                <a:solidFill>
                  <a:srgbClr val="EEEEEE"/>
                </a:solidFill>
              </a:rPr>
              <a:t>▸  Improve the section library — EN 10365 profiles, CHS, angles, channels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999AA"/>
                </a:solidFill>
              </a:rP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554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0" b="1" i="0">
                <a:solidFill>
                  <a:srgbClr val="00ACC1"/>
                </a:solidFill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514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0" i="0">
                <a:solidFill>
                  <a:srgbClr val="EEEEEE"/>
                </a:solidFill>
              </a:rPr>
              <a:t>StructLabPro V1.0.0 — Open Source Structural Analysis in Python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3063240"/>
            <a:ext cx="5788152" cy="19050"/>
          </a:xfrm>
          <a:prstGeom prst="rect">
            <a:avLst/>
          </a:prstGeom>
          <a:solidFill>
            <a:srgbClr val="00A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0" y="3337560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00ACC1"/>
                </a:solidFill>
              </a:rPr>
              <a:t>Licence: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3337560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EEEEE"/>
                </a:solidFill>
              </a:rPr>
              <a:t>GPL v3 — free to use, modify, distribute (copyleft)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3739896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00ACC1"/>
                </a:solidFill>
              </a:rPr>
              <a:t>Tech stack: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3739896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EEEEE"/>
                </a:solidFill>
              </a:rPr>
              <a:t>Python · NumPy · SciPy · PyQt6 · Matplotlib · PyInstaller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4142232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00ACC1"/>
                </a:solidFill>
              </a:rPr>
              <a:t>Solver: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4142232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EEEEE"/>
                </a:solidFill>
              </a:rPr>
              <a:t>Direct Stiffness Method · 2D &amp; 3D unified engine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4544568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00ACC1"/>
                </a:solidFill>
              </a:rPr>
              <a:t>Tests: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4544568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EEEEE"/>
                </a:solidFill>
              </a:rPr>
              <a:t>92 / 92 passing · 20 benchmark cases · 0.00% error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5577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9999AA"/>
                </a:solidFill>
              </a:rP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